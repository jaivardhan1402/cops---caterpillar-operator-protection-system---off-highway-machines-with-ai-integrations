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2F2F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2F2F0"/>
                </a:solidFill>
                <a:latin typeface="Arial"/>
              </a:rPr>
              <a:t>Seatbelt off = engine on, no work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Seatbelt fastened</c:v>
                </c:pt>
              </c:strCache>
            </c:strRef>
          </c:tx>
          <c:spPr>
            <a:solidFill>
              <a:srgbClr val="6F7276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F2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Idle min / 2-h window</c:v>
                  </c:pt>
                  <c:pt idx="1">
                    <c:v>Load cycles / window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Seatbelt unfastened</c:v>
                </c:pt>
              </c:strCache>
            </c:strRef>
          </c:tx>
          <c:spPr>
            <a:solidFill>
              <a:srgbClr val="FFCD11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F2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Idle min / 2-h window</c:v>
                  </c:pt>
                  <c:pt idx="1">
                    <c:v>Load cycles / window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56</c:v>
                </c:pt>
                <c:pt idx="1">
                  <c:v>2.2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200" u="none">
                  <a:solidFill>
                    <a:srgbClr val="F2F2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2F2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3C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DA0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2F2F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2F2F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2F2F0"/>
                </a:solidFill>
                <a:latin typeface="Arial"/>
              </a:rPr>
              <a:t>Average prediction error (lower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(min)</c:v>
                </c:pt>
              </c:strCache>
            </c:strRef>
          </c:tx>
          <c:spPr>
            <a:solidFill>
              <a:srgbClr val="6F7276"/>
            </a:solidFill>
            <a:effectLst/>
          </c:spPr>
          <c:invertIfNegative val="0"/>
          <c:dLbls>
            <c:numFmt formatCode="0.0&quot; min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2F2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F72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CD1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Site static estimate</c:v>
                  </c:pt>
                  <c:pt idx="1">
                    <c:v>CAT Co-Pilot ML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9.85</c:v>
                </c:pt>
                <c:pt idx="1">
                  <c:v>1.94</c:v>
                </c:pt>
              </c:numCache>
            </c:numRef>
          </c:val>
        </c:ser>
        <c:dLbls>
          <c:numFmt formatCode="0.0&quot; min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F2F2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2F2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2F2F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2F2F0"/>
                </a:solidFill>
                <a:latin typeface="Arial"/>
              </a:rPr>
              <a:t>The loop working: Raju, week over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Last week</c:v>
                </c:pt>
              </c:strCache>
            </c:strRef>
          </c:tx>
          <c:spPr>
            <a:solidFill>
              <a:srgbClr val="6F72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2F2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Seatbelt compliance %</c:v>
                  </c:pt>
                  <c:pt idx="1">
                    <c:v>Daily safety score</c:v>
                  </c:pt>
                  <c:pt idx="2">
                    <c:v>Idle min / window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57.1</c:v>
                </c:pt>
                <c:pt idx="1">
                  <c:v>77.7</c:v>
                </c:pt>
                <c:pt idx="2">
                  <c:v>35.3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This week</c:v>
                </c:pt>
              </c:strCache>
            </c:strRef>
          </c:tx>
          <c:spPr>
            <a:solidFill>
              <a:srgbClr val="FFCD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2F2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Seatbelt compliance %</c:v>
                  </c:pt>
                  <c:pt idx="1">
                    <c:v>Daily safety score</c:v>
                  </c:pt>
                  <c:pt idx="2">
                    <c:v>Idle min / window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82.1</c:v>
                </c:pt>
                <c:pt idx="1">
                  <c:v>87.9</c:v>
                </c:pt>
                <c:pt idx="2">
                  <c:v>32.8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2F2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2F2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2F2F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one-liner: an AI co-pilot for the person in the cab, not another dashboard for the office.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asks for an end-to-end, intelligent companion covering five outcomes. We were given 4 telemetry rows and 5 task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feature feeds the next. That loop is our core differentiator: the system gets smarter and the operator gets safer every 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tabs of the app quickly; details follow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Scheduler tries all 120 task orders against the hourly forecast. In our demo, 2 tasks in the default order hit rain or wind; after re-planning, zero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Seatbelt: the task timer cannot start unbelted; if released mid-task, a 3-step escalation runs. Proximity: COCO-SSD person detection in the browser, distance from body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Fatigue: MediaPipe face landmarks, eyeBlink and jawOpen blendshapes, PERCLOS. Incidents: say one sentence and it becomes a structured report with a telemetry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from our demo telemetry for operator OP1001 over 14 days (synthetic data calibrated on the 4 provided rows). The belt-off windows ARE the idle windows.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absolute error on held-out tasks: 1.94 min for the model vs 9.85 min for the static site estimate. Quantile models give an honest 80%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Lessons are recommended from the operator’s own telemetry and today’s forecast. The Performance tab measures the result week over week (demo data for Raju, OP1001).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 operator must leave mid-shift, their state is frozen as a snapshot. The next operator punches in and hears a briefing with remaining work re-predicted for their own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Fusion 360 Python script builds the excavator as nested components (Upper › Boom › Stick › Bucket) with origins on the pivot pins, exported as FBX and loaded into a three.js twin.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details judges from the field will notice.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locally: FastAPI backend with scikit-learn models, React frontend with on-device vision models, and Fusion 360 for the CAD twin.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from our demo run. Telemetry and task history are synthetic but calibrated on the provided rows; say this openly.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order: punch in, schedule, seatbelt, proximity, fatigue, twin, handover. End on the twin freezing when a worker walks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3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Co-Pilot  ·  Smart Operator Assistant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1143000" cy="1143000"/>
          </a:xfrm>
          <a:prstGeom prst="roundRect">
            <a:avLst>
              <a:gd name="adj" fmla="val 11200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1430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1097280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2F2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Co-Pilot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Operator Assistant for Caterpillar machinery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089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companion that plans the operator’s day, protects them in real time, and learns from every shift.</a:t>
            </a:r>
            <a:endParaRPr lang="en-US" sz="1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914400"/>
            <a:ext cx="3383280" cy="338328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17720"/>
            <a:ext cx="11064240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864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1925 · Battleship gray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429768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1931 · Hi-Way Yellow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795528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AI Co-Pilot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760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Caterpillar Hackathon 2026  ·  Smart Operator Assistant challenge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2F2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Operators got digital machines, but basic tools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Co-Pilot  ·  Smart Operator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4480560" cy="4526280"/>
          </a:xfrm>
          <a:prstGeom prst="roundRect">
            <a:avLst>
              <a:gd name="adj" fmla="val 2449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7373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6" y="1850746"/>
            <a:ext cx="340157" cy="34015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81328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688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Excavators and loaders are increasingly digital, yet the tools available to the person in the cab remain basic.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56616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build a multi-functional operator interface that is an intelligent companion, not just a tool, improving efficiency, safety and training.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5349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provided: 4 telemetry rows · 5 task rows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303520" y="1508760"/>
            <a:ext cx="6336792" cy="786384"/>
          </a:xfrm>
          <a:prstGeom prst="roundRect">
            <a:avLst>
              <a:gd name="adj" fmla="val 13953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58968" y="163677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038" y="1742846"/>
            <a:ext cx="318211" cy="31821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72200" y="160020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task dashboard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172200" y="19293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 for the day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303520" y="2423160"/>
            <a:ext cx="6336792" cy="786384"/>
          </a:xfrm>
          <a:prstGeom prst="roundRect">
            <a:avLst>
              <a:gd name="adj" fmla="val 13953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58968" y="255117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038" y="2657246"/>
            <a:ext cx="318211" cy="31821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172200" y="251460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features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172200" y="28437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 · proximity · incident logging · working conditions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303520" y="3337560"/>
            <a:ext cx="6336792" cy="786384"/>
          </a:xfrm>
          <a:prstGeom prst="roundRect">
            <a:avLst>
              <a:gd name="adj" fmla="val 13953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458968" y="346557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038" y="3571646"/>
            <a:ext cx="318211" cy="31821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172200" y="342900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 hub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6172200" y="37581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Videos, instructor booking or simulation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303520" y="4251960"/>
            <a:ext cx="6336792" cy="786384"/>
          </a:xfrm>
          <a:prstGeom prst="roundRect">
            <a:avLst>
              <a:gd name="adj" fmla="val 13953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458968" y="437997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5038" y="4486046"/>
            <a:ext cx="318211" cy="31821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172200" y="434340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behaviour detection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6172200" y="46725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idling, unsafe patterns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5303520" y="5166360"/>
            <a:ext cx="6336792" cy="786384"/>
          </a:xfrm>
          <a:prstGeom prst="roundRect">
            <a:avLst>
              <a:gd name="adj" fmla="val 13953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458968" y="529437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5038" y="5400446"/>
            <a:ext cx="318211" cy="318211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172200" y="525780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time estimation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6172200" y="55869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past data + environmental conditions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OUR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2F2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AI co-pilot, not five separate tools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Co-Pilot  ·  Smart Operator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645920" cy="2148840"/>
          </a:xfrm>
          <a:prstGeom prst="roundRect">
            <a:avLst>
              <a:gd name="adj" fmla="val 6667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20116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090" y="2143354"/>
            <a:ext cx="395021" cy="39502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8163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58368" y="320040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+ shift data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76272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9"/>
          <p:cNvSpPr/>
          <p:nvPr/>
        </p:nvSpPr>
        <p:spPr>
          <a:xfrm>
            <a:off x="2432304" y="1828800"/>
            <a:ext cx="1645920" cy="2148840"/>
          </a:xfrm>
          <a:prstGeom prst="roundRect">
            <a:avLst>
              <a:gd name="adj" fmla="val 6667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926080" y="20116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754" y="2143354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523744" y="28163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2542032" y="320040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Anomaly: 60 min idle, belt off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059936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4"/>
          <p:cNvSpPr/>
          <p:nvPr/>
        </p:nvSpPr>
        <p:spPr>
          <a:xfrm>
            <a:off x="4315968" y="1828800"/>
            <a:ext cx="1645920" cy="2148840"/>
          </a:xfrm>
          <a:prstGeom prst="roundRect">
            <a:avLst>
              <a:gd name="adj" fmla="val 6667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09744" y="20116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418" y="2143354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407408" y="28163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4425696" y="320040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score drops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943600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Shape 19"/>
          <p:cNvSpPr/>
          <p:nvPr/>
        </p:nvSpPr>
        <p:spPr>
          <a:xfrm>
            <a:off x="6199632" y="1828800"/>
            <a:ext cx="1645920" cy="2148840"/>
          </a:xfrm>
          <a:prstGeom prst="roundRect">
            <a:avLst>
              <a:gd name="adj" fmla="val 6667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693408" y="20116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082" y="2143354"/>
            <a:ext cx="395021" cy="39502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291072" y="28163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6309360" y="320040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60-s lesson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7827264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1" name="Shape 24"/>
          <p:cNvSpPr/>
          <p:nvPr/>
        </p:nvSpPr>
        <p:spPr>
          <a:xfrm>
            <a:off x="8083296" y="1828800"/>
            <a:ext cx="1645920" cy="2148840"/>
          </a:xfrm>
          <a:prstGeom prst="roundRect">
            <a:avLst>
              <a:gd name="adj" fmla="val 6667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577072" y="20116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8746" y="2143354"/>
            <a:ext cx="395021" cy="395021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174736" y="28163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700" dirty="0"/>
          </a:p>
        </p:txBody>
      </p:sp>
      <p:sp>
        <p:nvSpPr>
          <p:cNvPr id="35" name="Text 27"/>
          <p:cNvSpPr txBox="1"/>
          <p:nvPr/>
        </p:nvSpPr>
        <p:spPr>
          <a:xfrm>
            <a:off x="8193024" y="320040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level rises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9710928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7" name="Shape 29"/>
          <p:cNvSpPr/>
          <p:nvPr/>
        </p:nvSpPr>
        <p:spPr>
          <a:xfrm>
            <a:off x="9966960" y="1828800"/>
            <a:ext cx="1645920" cy="2148840"/>
          </a:xfrm>
          <a:prstGeom prst="roundRect">
            <a:avLst>
              <a:gd name="adj" fmla="val 6667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10460736" y="20116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2410" y="2143354"/>
            <a:ext cx="395021" cy="395021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0058400" y="28163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700" dirty="0"/>
          </a:p>
        </p:txBody>
      </p:sp>
      <p:sp>
        <p:nvSpPr>
          <p:cNvPr id="41" name="Text 32"/>
          <p:cNvSpPr txBox="1"/>
          <p:nvPr/>
        </p:nvSpPr>
        <p:spPr>
          <a:xfrm>
            <a:off x="10076688" y="320040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task-time plans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 flipH="1">
            <a:off x="1371600" y="4343400"/>
            <a:ext cx="9418320" cy="0"/>
          </a:xfrm>
          <a:prstGeom prst="line">
            <a:avLst/>
          </a:prstGeom>
          <a:noFill/>
          <a:ln w="25400">
            <a:solidFill>
              <a:srgbClr val="FFCD11"/>
            </a:solidFill>
            <a:prstDash val="dash"/>
            <a:tailEnd type="triangle"/>
          </a:ln>
        </p:spPr>
      </p:sp>
      <p:sp>
        <p:nvSpPr>
          <p:cNvPr id="43" name="Text 34"/>
          <p:cNvSpPr txBox="1"/>
          <p:nvPr/>
        </p:nvSpPr>
        <p:spPr>
          <a:xfrm>
            <a:off x="1371600" y="44348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completed task retrains the model  ·  every lesson changes tomorrow’s plan</a:t>
            </a:r>
            <a:endParaRPr lang="en-US" sz="1300" dirty="0"/>
          </a:p>
        </p:txBody>
      </p:sp>
      <p:sp>
        <p:nvSpPr>
          <p:cNvPr id="44" name="Shape 35"/>
          <p:cNvSpPr/>
          <p:nvPr/>
        </p:nvSpPr>
        <p:spPr>
          <a:xfrm>
            <a:off x="548640" y="507492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822960" y="50749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apps show data. </a:t>
            </a:r>
            <a:pPr algn="ctr" indent="0" marL="0">
              <a:buNone/>
            </a:pPr>
            <a:r>
              <a:rPr lang="en-US" sz="19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Co-Pilot learns from every shift and makes the operator safer and faster the next day.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2F2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built: 8 connected modules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Co-Pilot  ·  Smart Operator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17556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65376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9808" y="245059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2852928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Weather-smart schedule, walkaround, ML time per task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361334" y="155448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562502" y="17556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230" y="1865376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62502" y="245059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3562502" y="2852928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excavator from Fusion 360, driven by live data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174029" y="155448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375197" y="17556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5" y="1865376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375197" y="245059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375197" y="2852928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 interlock, proximity AI, fatigue AI, voice incidents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986723" y="155448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187891" y="17556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7619" y="1865376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187891" y="245059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9187891" y="2852928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→ coached → improved, week over week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548640" y="3904488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749808" y="410565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215384"/>
            <a:ext cx="329184" cy="32918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49808" y="480060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Insights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749808" y="5202936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anomalies, idle cost in ₹ and CO₂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3361334" y="3904488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3562502" y="410565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2230" y="4215384"/>
            <a:ext cx="329184" cy="32918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3562502" y="480060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Hub</a:t>
            </a:r>
            <a:endParaRPr lang="en-US" sz="1800" dirty="0"/>
          </a:p>
        </p:txBody>
      </p:sp>
      <p:sp>
        <p:nvSpPr>
          <p:cNvPr id="36" name="Text 27"/>
          <p:cNvSpPr txBox="1"/>
          <p:nvPr/>
        </p:nvSpPr>
        <p:spPr>
          <a:xfrm>
            <a:off x="3562502" y="5202936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micro-lessons, XP levels, simulator, instructors</a:t>
            </a:r>
            <a:endParaRPr lang="en-US" sz="1250" dirty="0"/>
          </a:p>
        </p:txBody>
      </p:sp>
      <p:sp>
        <p:nvSpPr>
          <p:cNvPr id="37" name="Shape 28"/>
          <p:cNvSpPr/>
          <p:nvPr/>
        </p:nvSpPr>
        <p:spPr>
          <a:xfrm>
            <a:off x="6174029" y="3904488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6375197" y="410565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925" y="4215384"/>
            <a:ext cx="329184" cy="32918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375197" y="480060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Predictor</a:t>
            </a:r>
            <a:endParaRPr lang="en-US" sz="1800" dirty="0"/>
          </a:p>
        </p:txBody>
      </p:sp>
      <p:sp>
        <p:nvSpPr>
          <p:cNvPr id="41" name="Text 31"/>
          <p:cNvSpPr txBox="1"/>
          <p:nvPr/>
        </p:nvSpPr>
        <p:spPr>
          <a:xfrm>
            <a:off x="6375197" y="5202936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ML estimates, what-if planning</a:t>
            </a:r>
            <a:endParaRPr lang="en-US" sz="1250" dirty="0"/>
          </a:p>
        </p:txBody>
      </p:sp>
      <p:sp>
        <p:nvSpPr>
          <p:cNvPr id="42" name="Shape 32"/>
          <p:cNvSpPr/>
          <p:nvPr/>
        </p:nvSpPr>
        <p:spPr>
          <a:xfrm>
            <a:off x="8986723" y="3904488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9187891" y="410565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7619" y="4215384"/>
            <a:ext cx="329184" cy="329184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9187891" y="480060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Handover</a:t>
            </a:r>
            <a:endParaRPr lang="en-US" sz="1800" dirty="0"/>
          </a:p>
        </p:txBody>
      </p:sp>
      <p:sp>
        <p:nvSpPr>
          <p:cNvPr id="46" name="Text 35"/>
          <p:cNvSpPr txBox="1"/>
          <p:nvPr/>
        </p:nvSpPr>
        <p:spPr>
          <a:xfrm>
            <a:off x="9187891" y="5202936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Punch-in ID, emergency handover, spoken briefing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FEATURE · DAILY TASK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2F2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day plan that dodges the weather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Co-Pilot  ·  Smart Operator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2024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today’s tasks with an ML-predicted duration and 80% range for this operator, machine and weather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Re-orders the day: trenching &amp; grading out of rain, demolition out of wind; every move is explained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weather to clear and turns the gap into a hydration break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Pre-shift walkaround checklist must be complete before tasks unlock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Heat, rain and wind advice for the shift (working conditions)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89320" y="1508760"/>
            <a:ext cx="5650992" cy="3017520"/>
          </a:xfrm>
          <a:prstGeom prst="roundRect">
            <a:avLst>
              <a:gd name="adj" fmla="val 363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schedule (example)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011680"/>
            <a:ext cx="5285232" cy="402336"/>
          </a:xfrm>
          <a:prstGeom prst="roundRect">
            <a:avLst>
              <a:gd name="adj" fmla="val 18182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09360" y="201168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08:00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20116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Excavation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915400" y="207568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9DA0A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15400" y="2075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72200" y="2487168"/>
            <a:ext cx="5285232" cy="402336"/>
          </a:xfrm>
          <a:prstGeom prst="roundRect">
            <a:avLst>
              <a:gd name="adj" fmla="val 18182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09360" y="24871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09:15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4871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Trenching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915400" y="255117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9DA0A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915400" y="25511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72200" y="2962656"/>
            <a:ext cx="5285232" cy="402336"/>
          </a:xfrm>
          <a:prstGeom prst="roundRect">
            <a:avLst>
              <a:gd name="adj" fmla="val 18182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09360" y="296265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10:14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29626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Loading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915400" y="302666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4DA3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915400" y="3026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784080" y="3026664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ECF6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784080" y="302666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fills rain slot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172200" y="3438144"/>
            <a:ext cx="5285232" cy="402336"/>
          </a:xfrm>
          <a:prstGeom prst="roundRect">
            <a:avLst>
              <a:gd name="adj" fmla="val 18182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09360" y="343814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10:59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34381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Demolition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8915400" y="350215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4DA3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915400" y="35021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Rainy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784080" y="3502152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ECF6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784080" y="35021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avoids 14:00 wind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172200" y="3913632"/>
            <a:ext cx="5285232" cy="402336"/>
          </a:xfrm>
          <a:prstGeom prst="roundRect">
            <a:avLst>
              <a:gd name="adj" fmla="val 18182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09360" y="391363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12:52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7040880" y="39136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8915400" y="39776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9DA0A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915400" y="39776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9784080" y="3977640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ECF6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784080" y="39776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moved out of rain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48640" y="475488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13232" y="491947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4996282"/>
            <a:ext cx="230429" cy="230429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1207008" y="4937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400" dirty="0"/>
          </a:p>
        </p:txBody>
      </p:sp>
      <p:sp>
        <p:nvSpPr>
          <p:cNvPr id="46" name="Text 42"/>
          <p:cNvSpPr txBox="1"/>
          <p:nvPr/>
        </p:nvSpPr>
        <p:spPr>
          <a:xfrm>
            <a:off x="731520" y="535838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exactly what to do next and how long it will really take, with no guesswork.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4279392" y="475488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4443984" y="491947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794" y="4996282"/>
            <a:ext cx="230429" cy="230429"/>
          </a:xfrm>
          <a:prstGeom prst="rect">
            <a:avLst/>
          </a:prstGeom>
        </p:spPr>
      </p:pic>
      <p:sp>
        <p:nvSpPr>
          <p:cNvPr id="50" name="Text 45"/>
          <p:cNvSpPr txBox="1"/>
          <p:nvPr/>
        </p:nvSpPr>
        <p:spPr>
          <a:xfrm>
            <a:off x="4937760" y="4937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400" dirty="0"/>
          </a:p>
        </p:txBody>
      </p:sp>
      <p:sp>
        <p:nvSpPr>
          <p:cNvPr id="51" name="Text 46"/>
          <p:cNvSpPr txBox="1"/>
          <p:nvPr/>
        </p:nvSpPr>
        <p:spPr>
          <a:xfrm>
            <a:off x="4462272" y="535838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idle waits and no re-work from digging in mud; walkaround catches leaks early.</a:t>
            </a:r>
            <a:endParaRPr lang="en-US" sz="1200" dirty="0"/>
          </a:p>
        </p:txBody>
      </p:sp>
      <p:sp>
        <p:nvSpPr>
          <p:cNvPr id="52" name="Shape 47"/>
          <p:cNvSpPr/>
          <p:nvPr/>
        </p:nvSpPr>
        <p:spPr>
          <a:xfrm>
            <a:off x="8010144" y="475488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8174736" y="491947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46" y="4996282"/>
            <a:ext cx="230429" cy="230429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8668512" y="4937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56" name="Text 50"/>
          <p:cNvSpPr txBox="1"/>
          <p:nvPr/>
        </p:nvSpPr>
        <p:spPr>
          <a:xfrm>
            <a:off x="8193024" y="535838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trenching in rain (wall collapse) or demolition in wind (debris drift).</a:t>
            </a:r>
            <a:endParaRPr lang="en-US" sz="1200" dirty="0"/>
          </a:p>
        </p:txBody>
      </p:sp>
      <p:sp>
        <p:nvSpPr>
          <p:cNvPr id="57" name="Text 51"/>
          <p:cNvSpPr txBox="1"/>
          <p:nvPr/>
        </p:nvSpPr>
        <p:spPr>
          <a:xfrm>
            <a:off x="548640" y="60533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000" dirty="0"/>
          </a:p>
        </p:txBody>
      </p:sp>
      <p:sp>
        <p:nvSpPr>
          <p:cNvPr id="58" name="Shape 52"/>
          <p:cNvSpPr/>
          <p:nvPr/>
        </p:nvSpPr>
        <p:spPr>
          <a:xfrm>
            <a:off x="1115568" y="6016752"/>
            <a:ext cx="818388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1115568" y="6016752"/>
            <a:ext cx="8183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60" name="Shape 54"/>
          <p:cNvSpPr/>
          <p:nvPr/>
        </p:nvSpPr>
        <p:spPr>
          <a:xfrm>
            <a:off x="2025396" y="6016752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2025396" y="601675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search (120 orders)</a:t>
            </a:r>
            <a:endParaRPr lang="en-US" sz="1100" dirty="0"/>
          </a:p>
        </p:txBody>
      </p:sp>
      <p:sp>
        <p:nvSpPr>
          <p:cNvPr id="62" name="Shape 56"/>
          <p:cNvSpPr/>
          <p:nvPr/>
        </p:nvSpPr>
        <p:spPr>
          <a:xfrm>
            <a:off x="4722876" y="6016752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4722876" y="6016752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durations</a:t>
            </a:r>
            <a:endParaRPr lang="en-US" sz="1100" dirty="0"/>
          </a:p>
        </p:txBody>
      </p:sp>
      <p:sp>
        <p:nvSpPr>
          <p:cNvPr id="64" name="Shape 58"/>
          <p:cNvSpPr/>
          <p:nvPr/>
        </p:nvSpPr>
        <p:spPr>
          <a:xfrm>
            <a:off x="6021324" y="6016752"/>
            <a:ext cx="662940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6021324" y="6016752"/>
            <a:ext cx="662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FEATURE · REAL-TIME SAFETY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2F2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Seatbelt interlock &amp; AI proximity detection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Co-Pilot  ·  Smart Operator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71907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19656"/>
            <a:ext cx="301752" cy="3017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 compliance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Interlock: a task cannot start unless the belt is fastened. If it is released while working: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77240" y="3063240"/>
            <a:ext cx="4206240" cy="530352"/>
          </a:xfrm>
          <a:prstGeom prst="roundRect">
            <a:avLst>
              <a:gd name="adj" fmla="val 20690"/>
            </a:avLst>
          </a:prstGeom>
          <a:solidFill>
            <a:srgbClr val="2A2B2F"/>
          </a:solidFill>
          <a:ln w="9525">
            <a:solidFill>
              <a:srgbClr val="FFA62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14400" y="306324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508760" y="306324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nudge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1188720" y="3721608"/>
            <a:ext cx="4206240" cy="530352"/>
          </a:xfrm>
          <a:prstGeom prst="roundRect">
            <a:avLst>
              <a:gd name="adj" fmla="val 20690"/>
            </a:avLst>
          </a:prstGeom>
          <a:solidFill>
            <a:srgbClr val="2A2B2F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325880" y="372160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920240" y="372160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+ red banner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1600200" y="4379976"/>
            <a:ext cx="4206240" cy="530352"/>
          </a:xfrm>
          <a:prstGeom prst="roundRect">
            <a:avLst>
              <a:gd name="adj" fmla="val 20690"/>
            </a:avLst>
          </a:prstGeom>
          <a:solidFill>
            <a:srgbClr val="2A2B2F"/>
          </a:solidFill>
          <a:ln w="9525">
            <a:solidFill>
              <a:srgbClr val="FF4D4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737360" y="4379976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2331720" y="4379976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notified &amp; logged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77240" y="5166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prompts in English and Hindi · sensor simulated in the demo (key B)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199632" y="150876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28232" y="171907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819656"/>
            <a:ext cx="301752" cy="30175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068312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hazards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7452360" y="2286000"/>
            <a:ext cx="2560320" cy="2560320"/>
          </a:xfrm>
          <a:prstGeom prst="ellipse">
            <a:avLst/>
          </a:prstGeom>
          <a:solidFill>
            <a:srgbClr val="FFA62B">
              <a:alpha val="12000"/>
            </a:srgbClr>
          </a:solidFill>
          <a:ln w="19050">
            <a:solidFill>
              <a:srgbClr val="FFA62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019288" y="2852928"/>
            <a:ext cx="1426464" cy="1426464"/>
          </a:xfrm>
          <a:prstGeom prst="ellipse">
            <a:avLst/>
          </a:prstGeom>
          <a:solidFill>
            <a:srgbClr val="FF4D4F">
              <a:alpha val="20000"/>
            </a:srgbClr>
          </a:solidFill>
          <a:ln w="25400">
            <a:solidFill>
              <a:srgbClr val="FF4D4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513064" y="3419856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074152" y="3767328"/>
            <a:ext cx="219456" cy="219456"/>
          </a:xfrm>
          <a:prstGeom prst="ellipse">
            <a:avLst/>
          </a:prstGeom>
          <a:solidFill>
            <a:srgbClr val="FF7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1014984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  STOP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1014984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 m  warn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6428232" y="5074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person detection on the rear camera, runs on-device. Voice “STOP”, motion inhibited, one-tap near-miss log.</a:t>
            </a:r>
            <a:endParaRPr lang="en-US" sz="1150" dirty="0"/>
          </a:p>
        </p:txBody>
      </p:sp>
      <p:sp>
        <p:nvSpPr>
          <p:cNvPr id="33" name="Text 28"/>
          <p:cNvSpPr txBox="1"/>
          <p:nvPr/>
        </p:nvSpPr>
        <p:spPr>
          <a:xfrm>
            <a:off x="548640" y="60533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1115568" y="6016752"/>
            <a:ext cx="1984248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1115568" y="6016752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TensorFlow.js COCO-SSD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3191256" y="6016752"/>
            <a:ext cx="973836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191256" y="6016752"/>
            <a:ext cx="973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4256532" y="6016752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4256532" y="601675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Synthesis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FEATURE · OPERATOR ALERTNESS &amp; REPORTING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2F2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Fatigue detection &amp; speak-to-report incidents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Co-Pilot  ·  Smart Operator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486400" cy="3063240"/>
          </a:xfrm>
          <a:prstGeom prst="roundRect">
            <a:avLst>
              <a:gd name="adj" fmla="val 3582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71907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19656"/>
            <a:ext cx="301752" cy="3017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1737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&amp; microsleep monitor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closed ≥ 1.5 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88036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 warning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9077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closed ≥ 3 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880360" y="29077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MICROSLEEP alarm, logged, tasks blocked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4381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yawns in 3 min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880360" y="343814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 break advised + timer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396849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PERCLOS &gt; 20% / min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2880360" y="396849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flagged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45352" y="1508760"/>
            <a:ext cx="5394960" cy="3063240"/>
          </a:xfrm>
          <a:prstGeom prst="roundRect">
            <a:avLst>
              <a:gd name="adj" fmla="val 3582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73952" y="171907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819656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114032" y="1737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incident report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473952" y="237744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629400" y="23774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rock hit the windshield near trench 3, nobody was hurt”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473952" y="2999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auto-filled in 1 second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473952" y="3337560"/>
            <a:ext cx="2395728" cy="475488"/>
          </a:xfrm>
          <a:prstGeom prst="roundRect">
            <a:avLst>
              <a:gd name="adj" fmla="val 15385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583680" y="33375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7406640" y="333756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961120" y="3337560"/>
            <a:ext cx="2395728" cy="475488"/>
          </a:xfrm>
          <a:prstGeom prst="roundRect">
            <a:avLst>
              <a:gd name="adj" fmla="val 15385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9070848" y="33375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9893808" y="333756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473952" y="3904488"/>
            <a:ext cx="2395728" cy="475488"/>
          </a:xfrm>
          <a:prstGeom prst="roundRect">
            <a:avLst>
              <a:gd name="adj" fmla="val 15385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583680" y="3904488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7406640" y="390448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Trench 3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8961120" y="3904488"/>
            <a:ext cx="2395728" cy="475488"/>
          </a:xfrm>
          <a:prstGeom prst="roundRect">
            <a:avLst>
              <a:gd name="adj" fmla="val 15385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9070848" y="3904488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</a:t>
            </a:r>
            <a:endParaRPr lang="en-US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9893808" y="390448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black box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548640" y="475488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713232" y="491947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2" y="4996282"/>
            <a:ext cx="230429" cy="230429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1207008" y="4937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400" dirty="0"/>
          </a:p>
        </p:txBody>
      </p:sp>
      <p:sp>
        <p:nvSpPr>
          <p:cNvPr id="42" name="Text 36"/>
          <p:cNvSpPr txBox="1"/>
          <p:nvPr/>
        </p:nvSpPr>
        <p:spPr>
          <a:xfrm>
            <a:off x="731520" y="535838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co-pilot that notices tiredness before an accident; reporting takes 10 seconds, hands-free.</a:t>
            </a:r>
            <a:endParaRPr lang="en-US" sz="1200" dirty="0"/>
          </a:p>
        </p:txBody>
      </p:sp>
      <p:sp>
        <p:nvSpPr>
          <p:cNvPr id="43" name="Shape 37"/>
          <p:cNvSpPr/>
          <p:nvPr/>
        </p:nvSpPr>
        <p:spPr>
          <a:xfrm>
            <a:off x="4279392" y="475488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4443984" y="491947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794" y="4996282"/>
            <a:ext cx="230429" cy="230429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4937760" y="4937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400" dirty="0"/>
          </a:p>
        </p:txBody>
      </p:sp>
      <p:sp>
        <p:nvSpPr>
          <p:cNvPr id="47" name="Text 40"/>
          <p:cNvSpPr txBox="1"/>
          <p:nvPr/>
        </p:nvSpPr>
        <p:spPr>
          <a:xfrm>
            <a:off x="4462272" y="535838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is held when the operator is drowsy; incidents carry the machine’s last telemetry.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8010144" y="475488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8174736" y="491947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546" y="4996282"/>
            <a:ext cx="230429" cy="230429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8668512" y="4937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52" name="Text 44"/>
          <p:cNvSpPr txBox="1"/>
          <p:nvPr/>
        </p:nvSpPr>
        <p:spPr>
          <a:xfrm>
            <a:off x="8193024" y="535838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microsleeps; near-misses get reported (reporting raises the safety score, never lowers it).</a:t>
            </a:r>
            <a:endParaRPr lang="en-US" sz="1200" dirty="0"/>
          </a:p>
        </p:txBody>
      </p:sp>
      <p:sp>
        <p:nvSpPr>
          <p:cNvPr id="53" name="Text 45"/>
          <p:cNvSpPr txBox="1"/>
          <p:nvPr/>
        </p:nvSpPr>
        <p:spPr>
          <a:xfrm>
            <a:off x="548640" y="60533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000" dirty="0"/>
          </a:p>
        </p:txBody>
      </p:sp>
      <p:sp>
        <p:nvSpPr>
          <p:cNvPr id="54" name="Shape 46"/>
          <p:cNvSpPr/>
          <p:nvPr/>
        </p:nvSpPr>
        <p:spPr>
          <a:xfrm>
            <a:off x="1115568" y="6016752"/>
            <a:ext cx="2217420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1115568" y="6016752"/>
            <a:ext cx="2217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Landmarker</a:t>
            </a:r>
            <a:endParaRPr lang="en-US" sz="1100" dirty="0"/>
          </a:p>
        </p:txBody>
      </p:sp>
      <p:sp>
        <p:nvSpPr>
          <p:cNvPr id="56" name="Shape 48"/>
          <p:cNvSpPr/>
          <p:nvPr/>
        </p:nvSpPr>
        <p:spPr>
          <a:xfrm>
            <a:off x="3424428" y="6016752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3424428" y="601675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100" dirty="0"/>
          </a:p>
        </p:txBody>
      </p:sp>
      <p:sp>
        <p:nvSpPr>
          <p:cNvPr id="58" name="Shape 50"/>
          <p:cNvSpPr/>
          <p:nvPr/>
        </p:nvSpPr>
        <p:spPr>
          <a:xfrm>
            <a:off x="4878324" y="6016752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4878324" y="6016752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NLP parser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FEATURE · UNUSUAL BEHAVIOUR DETECTION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2F2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found a hidden pattern in the data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Co-Pilot  ·  Smart Operator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50876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6583680" y="1508760"/>
            <a:ext cx="5056632" cy="896112"/>
          </a:xfrm>
          <a:prstGeom prst="roundRect">
            <a:avLst>
              <a:gd name="adj" fmla="val 12245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784848" y="1508760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4D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₹11,104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8869680" y="1508760"/>
            <a:ext cx="2651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fuel burned (14 days, 1 operator)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583680" y="2532888"/>
            <a:ext cx="5056632" cy="896112"/>
          </a:xfrm>
          <a:prstGeom prst="roundRect">
            <a:avLst>
              <a:gd name="adj" fmla="val 12245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784848" y="2532888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ECF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₹5,270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8869680" y="2532888"/>
            <a:ext cx="2651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with auto-shutdown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583680" y="3557016"/>
            <a:ext cx="5056632" cy="896112"/>
          </a:xfrm>
          <a:prstGeom prst="roundRect">
            <a:avLst>
              <a:gd name="adj" fmla="val 12245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784848" y="3557016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2F2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323 kg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8869680" y="3557016"/>
            <a:ext cx="2651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from idling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583680" y="4617720"/>
            <a:ext cx="5056632" cy="640080"/>
          </a:xfrm>
          <a:prstGeom prst="roundRect">
            <a:avLst>
              <a:gd name="adj" fmla="val 17143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766560" y="4617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explains why: “60 min idle, 1 load cycle, 17× fleet ratio”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4406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helps  ·  Operator: sees the cost of a habit, not just a warning  ·  Machine: fewer wasted engine hours  ·  Safety: leaving the cab with the engine running is caught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0533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1115568" y="6016752"/>
            <a:ext cx="2450592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115568" y="60167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IsolationForest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657600" y="6016752"/>
            <a:ext cx="1595628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657600" y="6016752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rules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344668" y="6016752"/>
            <a:ext cx="740664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344668" y="6016752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176772" y="6016752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176772" y="601675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FEATURE · TASK TIME ESTIMATION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2F2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5× more accurate than today’s estimates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Co-Pilot  ·  Smart Operator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508760"/>
          <a:ext cx="44805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5303520" y="1508760"/>
            <a:ext cx="6336792" cy="3063240"/>
          </a:xfrm>
          <a:prstGeom prst="roundRect">
            <a:avLst>
              <a:gd name="adj" fmla="val 3582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532120" y="1645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estimate explains itself: Trenching · Rainy · Intermediate · 4-yr machine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532120" y="2057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conditions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178040" y="2112264"/>
            <a:ext cx="3057754" cy="256032"/>
          </a:xfrm>
          <a:prstGeom prst="roundRect">
            <a:avLst>
              <a:gd name="adj" fmla="val 14286"/>
            </a:avLst>
          </a:prstGeom>
          <a:solidFill>
            <a:srgbClr val="6F7276"/>
          </a:solidFill>
          <a:ln w="9525">
            <a:solidFill>
              <a:srgbClr val="6F727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308946" y="2057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 min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2514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Rain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0235794" y="2569464"/>
            <a:ext cx="343814" cy="256032"/>
          </a:xfrm>
          <a:prstGeom prst="roundRect">
            <a:avLst>
              <a:gd name="adj" fmla="val 14286"/>
            </a:avLst>
          </a:prstGeom>
          <a:solidFill>
            <a:srgbClr val="4DA3FF"/>
          </a:solidFill>
          <a:ln w="9525">
            <a:solidFill>
              <a:srgbClr val="4DA3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652760" y="2514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+4.7 min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53212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Skill level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0579608" y="3026664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FFA62B"/>
          </a:solidFill>
          <a:ln w="9525">
            <a:solidFill>
              <a:srgbClr val="FFA62B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1055096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+5.5 min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5532120" y="3429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Machine age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10981944" y="3483864"/>
            <a:ext cx="80467" cy="256032"/>
          </a:xfrm>
          <a:prstGeom prst="roundRect">
            <a:avLst>
              <a:gd name="adj" fmla="val 45455"/>
            </a:avLst>
          </a:prstGeom>
          <a:solidFill>
            <a:srgbClr val="B48CFF"/>
          </a:solidFill>
          <a:ln w="9525">
            <a:solidFill>
              <a:srgbClr val="B48C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1135563" y="3429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 min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553212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Predicted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7178040" y="3941064"/>
            <a:ext cx="3891686" cy="256032"/>
          </a:xfrm>
          <a:prstGeom prst="roundRect">
            <a:avLst>
              <a:gd name="adj" fmla="val 14286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1142878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53.2 min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5532120" y="4224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range 50–57 min  ·  site estimate says 45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48640" y="4736592"/>
            <a:ext cx="3611880" cy="1143000"/>
          </a:xfrm>
          <a:prstGeom prst="roundRect">
            <a:avLst>
              <a:gd name="adj" fmla="val 96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13232" y="49011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42" y="4977994"/>
            <a:ext cx="230429" cy="230429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207008" y="4919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731520" y="5340096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plans; the what-if view shows how skill, weather or machine age change the job.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4279392" y="4736592"/>
            <a:ext cx="3611880" cy="1143000"/>
          </a:xfrm>
          <a:prstGeom prst="roundRect">
            <a:avLst>
              <a:gd name="adj" fmla="val 96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443984" y="49011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794" y="4977994"/>
            <a:ext cx="230429" cy="230429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4937760" y="4919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4462272" y="5340096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completed task retrains the model (online learning), so accuracy grows each shift.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8010144" y="4736592"/>
            <a:ext cx="3611880" cy="1143000"/>
          </a:xfrm>
          <a:prstGeom prst="roundRect">
            <a:avLst>
              <a:gd name="adj" fmla="val 96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174736" y="49011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546" y="4977994"/>
            <a:ext cx="230429" cy="230429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8668512" y="4919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8193024" y="5340096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uncertainty ranges prevent rushed, over-optimistic schedules.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548640" y="60533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1115568" y="6016752"/>
            <a:ext cx="3150108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1115568" y="6016752"/>
            <a:ext cx="3150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 (10/50/90 quantiles)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4357116" y="6016752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4357116" y="6016752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5655564" y="6016752"/>
            <a:ext cx="818388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5655564" y="6016752"/>
            <a:ext cx="8183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FEATURE · TRAINING HUB + FEEDBACK LOOP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2F2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built from the operator’s own data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Co-Pilot  ·  Smart Operator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166420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302" y="1770278"/>
            <a:ext cx="318211" cy="31821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16184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micro-lessons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194767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aloud, quick quiz, XP → Beginner, Intermediate, Expert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2468880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3232" y="262432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" y="2730398"/>
            <a:ext cx="318211" cy="31821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25786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Swing-Zone Reflex simulator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29077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machine when a worker enters; measures reaction time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3429000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13232" y="358444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" y="3690518"/>
            <a:ext cx="318211" cy="31821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35387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booking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38679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slots with real trainers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389120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13232" y="454456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" y="4650638"/>
            <a:ext cx="318211" cy="31821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17320" y="449884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coach feedback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1417320" y="482803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“Seatbelt off 19 times: take this lesson” with a Fix-it link</a:t>
            </a:r>
            <a:endParaRPr lang="en-US" sz="11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6217920" y="1508760"/>
          <a:ext cx="542239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8" name="Text 20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growth is visible: chips and the 3D machine’s paint move from steel gray (Beginner) to CAT yellow (Expert).</a:t>
            </a:r>
            <a:endParaRPr lang="en-US" sz="1250" dirty="0"/>
          </a:p>
        </p:txBody>
      </p:sp>
      <p:sp>
        <p:nvSpPr>
          <p:cNvPr id="29" name="Text 21"/>
          <p:cNvSpPr txBox="1"/>
          <p:nvPr/>
        </p:nvSpPr>
        <p:spPr>
          <a:xfrm>
            <a:off x="548640" y="60533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1115568" y="6016752"/>
            <a:ext cx="662940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1115568" y="6016752"/>
            <a:ext cx="662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1869948" y="6016752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1869948" y="601675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simulator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3479292" y="6016752"/>
            <a:ext cx="818388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3479292" y="6016752"/>
            <a:ext cx="8183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4389120" y="6016752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4389120" y="601675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BEYOND THE BRIEF · SHIFT HANDOVER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2F2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Emergency handover with a 30-second briefing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Co-Pilot  ·  Smart Operator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69164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1794053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23317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Raju hands over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26974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(medical, fatigue…), % done on current task, voice note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795321" y="150876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978201" y="169164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614" y="1794053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78201" y="23317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Snapshot saved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2978201" y="26974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events, incidents frozen at handover time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042002" y="150876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224882" y="169164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294" y="1794053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224882" y="23317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Priya punches in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224882" y="26974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Operator ID on a glove-friendly keypad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7288682" y="150876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471562" y="169164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3975" y="1794053"/>
            <a:ext cx="307238" cy="30723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71562" y="23317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Spoken briefing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7471562" y="26974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· in progress · remaining · hazards · note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9535363" y="150876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9718243" y="169164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0656" y="1794053"/>
            <a:ext cx="307238" cy="30723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718243" y="23317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Acknowledge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9718243" y="26974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stay locked until the briefing is confirmed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548640" y="3547872"/>
            <a:ext cx="11091672" cy="1024128"/>
          </a:xfrm>
          <a:prstGeom prst="roundRect">
            <a:avLst>
              <a:gd name="adj" fmla="val 10714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731520" y="3547872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2200" dirty="0"/>
          </a:p>
        </p:txBody>
      </p:sp>
      <p:sp>
        <p:nvSpPr>
          <p:cNvPr id="34" name="Text 26"/>
          <p:cNvSpPr txBox="1"/>
          <p:nvPr/>
        </p:nvSpPr>
        <p:spPr>
          <a:xfrm>
            <a:off x="1234440" y="3593592"/>
            <a:ext cx="10241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“Raju Kumar worked 08:00 to 09:22 and left due to medical emergency. Earth Excavation was stopped at about 40%, roughly 36 minutes left. 3 more tasks remain. At your expert pace this is about 3h 47m, finishing around 13:09, 9 minutes past the shift end. Watch out: partially dug pit at Block A.”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548640" y="4736592"/>
            <a:ext cx="3611880" cy="1143000"/>
          </a:xfrm>
          <a:prstGeom prst="roundRect">
            <a:avLst>
              <a:gd name="adj" fmla="val 96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13232" y="49011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42" y="4977994"/>
            <a:ext cx="230429" cy="230429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207008" y="4919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731520" y="5340096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replacement starts productive in 30 s instead of walking the site asking questions.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4279392" y="4736592"/>
            <a:ext cx="3611880" cy="1143000"/>
          </a:xfrm>
          <a:prstGeom prst="roundRect">
            <a:avLst>
              <a:gd name="adj" fmla="val 96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4443984" y="49011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0794" y="4977994"/>
            <a:ext cx="230429" cy="230429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4937760" y="4919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400" dirty="0"/>
          </a:p>
        </p:txBody>
      </p:sp>
      <p:sp>
        <p:nvSpPr>
          <p:cNvPr id="44" name="Text 34"/>
          <p:cNvSpPr txBox="1"/>
          <p:nvPr/>
        </p:nvSpPr>
        <p:spPr>
          <a:xfrm>
            <a:off x="4462272" y="5340096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Half-done work continues from the right point; the overrun past shift end is flagged early.</a:t>
            </a:r>
            <a:endParaRPr lang="en-US" sz="1200" dirty="0"/>
          </a:p>
        </p:txBody>
      </p:sp>
      <p:sp>
        <p:nvSpPr>
          <p:cNvPr id="45" name="Shape 35"/>
          <p:cNvSpPr/>
          <p:nvPr/>
        </p:nvSpPr>
        <p:spPr>
          <a:xfrm>
            <a:off x="8010144" y="4736592"/>
            <a:ext cx="3611880" cy="1143000"/>
          </a:xfrm>
          <a:prstGeom prst="roundRect">
            <a:avLst>
              <a:gd name="adj" fmla="val 96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8174736" y="49011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1546" y="4977994"/>
            <a:ext cx="230429" cy="230429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8668512" y="4919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49" name="Text 38"/>
          <p:cNvSpPr txBox="1"/>
          <p:nvPr/>
        </p:nvSpPr>
        <p:spPr>
          <a:xfrm>
            <a:off x="8193024" y="5340096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 left behind (open trench, unstable pit) are always passed on, never forgotten.</a:t>
            </a:r>
            <a:endParaRPr lang="en-US" sz="1200" dirty="0"/>
          </a:p>
        </p:txBody>
      </p:sp>
      <p:sp>
        <p:nvSpPr>
          <p:cNvPr id="50" name="Text 39"/>
          <p:cNvSpPr txBox="1"/>
          <p:nvPr/>
        </p:nvSpPr>
        <p:spPr>
          <a:xfrm>
            <a:off x="548640" y="60533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1115568" y="6016752"/>
            <a:ext cx="1984248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52" name="Text 41"/>
          <p:cNvSpPr txBox="1"/>
          <p:nvPr/>
        </p:nvSpPr>
        <p:spPr>
          <a:xfrm>
            <a:off x="1115568" y="6016752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snapshot state</a:t>
            </a:r>
            <a:endParaRPr lang="en-US" sz="1100" dirty="0"/>
          </a:p>
        </p:txBody>
      </p:sp>
      <p:sp>
        <p:nvSpPr>
          <p:cNvPr id="53" name="Shape 42"/>
          <p:cNvSpPr/>
          <p:nvPr/>
        </p:nvSpPr>
        <p:spPr>
          <a:xfrm>
            <a:off x="3191256" y="6016752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54" name="Text 43"/>
          <p:cNvSpPr txBox="1"/>
          <p:nvPr/>
        </p:nvSpPr>
        <p:spPr>
          <a:xfrm>
            <a:off x="3191256" y="601675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100" dirty="0"/>
          </a:p>
        </p:txBody>
      </p:sp>
      <p:sp>
        <p:nvSpPr>
          <p:cNvPr id="55" name="Shape 44"/>
          <p:cNvSpPr/>
          <p:nvPr/>
        </p:nvSpPr>
        <p:spPr>
          <a:xfrm>
            <a:off x="4645152" y="6016752"/>
            <a:ext cx="662940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56" name="Text 45"/>
          <p:cNvSpPr txBox="1"/>
          <p:nvPr/>
        </p:nvSpPr>
        <p:spPr>
          <a:xfrm>
            <a:off x="4645152" y="6016752"/>
            <a:ext cx="662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BEYOND THE BRIEF · DIGITAL TWIN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2F2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Fusion 360 model, driven by live data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Co-Pilot  ·  Smart Operator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4480560" cy="914400"/>
          </a:xfrm>
          <a:prstGeom prst="roundRect">
            <a:avLst>
              <a:gd name="adj" fmla="val 120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67335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1790395"/>
            <a:ext cx="351130" cy="35113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16002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360 script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19476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nested components, pivots on the real joint pins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2560320" y="24140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2596896"/>
            <a:ext cx="4480560" cy="914400"/>
          </a:xfrm>
          <a:prstGeom prst="roundRect">
            <a:avLst>
              <a:gd name="adj" fmla="val 120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276148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" y="2878531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26883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FBX export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0358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Auto-loaded by the app; drag-and-drop also works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2560320" y="35021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685032"/>
            <a:ext cx="4480560" cy="914400"/>
          </a:xfrm>
          <a:prstGeom prst="roundRect">
            <a:avLst>
              <a:gd name="adj" fmla="val 120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384962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3966667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37764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twin (three.js)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41239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Scaled, parts detected by name, joints animated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303520" y="1508760"/>
            <a:ext cx="6336792" cy="3081528"/>
          </a:xfrm>
          <a:prstGeom prst="roundRect">
            <a:avLst>
              <a:gd name="adj" fmla="val 3561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532120" y="1645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3D machine reacts to the app in real time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532120" y="201168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running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8366760" y="201168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upper swings, boom/stick/bucket dig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532120" y="243230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off · person in zone · drowsy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8366760" y="243230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arm FREEZES, red beacon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5532120" y="285292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camera sees a worker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8366760" y="2852928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worker appears at real distance, ring flashes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5532120" y="327355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idling</a:t>
            </a:r>
            <a:endParaRPr lang="en-US" sz="1250" dirty="0"/>
          </a:p>
        </p:txBody>
      </p:sp>
      <p:sp>
        <p:nvSpPr>
          <p:cNvPr id="33" name="Text 27"/>
          <p:cNvSpPr txBox="1"/>
          <p:nvPr/>
        </p:nvSpPr>
        <p:spPr>
          <a:xfrm>
            <a:off x="8366760" y="327355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engine glows + live ₹/min counter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5532120" y="369417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Walkaround</a:t>
            </a:r>
            <a:endParaRPr lang="en-US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8366760" y="369417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click glowing hotspots on the 3D machine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5532120" y="41148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levels up</a:t>
            </a:r>
            <a:endParaRPr lang="en-US" sz="1250" dirty="0"/>
          </a:p>
        </p:txBody>
      </p:sp>
      <p:sp>
        <p:nvSpPr>
          <p:cNvPr id="37" name="Text 31"/>
          <p:cNvSpPr txBox="1"/>
          <p:nvPr/>
        </p:nvSpPr>
        <p:spPr>
          <a:xfrm>
            <a:off x="8366760" y="411480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paint shifts gray → CAT yellow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548640" y="4736592"/>
            <a:ext cx="3611880" cy="1143000"/>
          </a:xfrm>
          <a:prstGeom prst="roundRect">
            <a:avLst>
              <a:gd name="adj" fmla="val 96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13232" y="49011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2" y="4977994"/>
            <a:ext cx="230429" cy="230429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1207008" y="4919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400" dirty="0"/>
          </a:p>
        </p:txBody>
      </p:sp>
      <p:sp>
        <p:nvSpPr>
          <p:cNvPr id="42" name="Text 35"/>
          <p:cNvSpPr txBox="1"/>
          <p:nvPr/>
        </p:nvSpPr>
        <p:spPr>
          <a:xfrm>
            <a:off x="731520" y="5340096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why the machine stopped; learns the walkaround on the real machine geometry.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4279392" y="4736592"/>
            <a:ext cx="3611880" cy="1143000"/>
          </a:xfrm>
          <a:prstGeom prst="roundRect">
            <a:avLst>
              <a:gd name="adj" fmla="val 96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4443984" y="49011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0794" y="4977994"/>
            <a:ext cx="230429" cy="230429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4937760" y="4919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400" dirty="0"/>
          </a:p>
        </p:txBody>
      </p:sp>
      <p:sp>
        <p:nvSpPr>
          <p:cNvPr id="47" name="Text 39"/>
          <p:cNvSpPr txBox="1"/>
          <p:nvPr/>
        </p:nvSpPr>
        <p:spPr>
          <a:xfrm>
            <a:off x="4462272" y="5340096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see every machine’s live state remotely: design data reused in operation.</a:t>
            </a:r>
            <a:endParaRPr lang="en-US" sz="1200" dirty="0"/>
          </a:p>
        </p:txBody>
      </p:sp>
      <p:sp>
        <p:nvSpPr>
          <p:cNvPr id="48" name="Shape 40"/>
          <p:cNvSpPr/>
          <p:nvPr/>
        </p:nvSpPr>
        <p:spPr>
          <a:xfrm>
            <a:off x="8010144" y="4736592"/>
            <a:ext cx="3611880" cy="1143000"/>
          </a:xfrm>
          <a:prstGeom prst="roundRect">
            <a:avLst>
              <a:gd name="adj" fmla="val 96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8174736" y="49011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1546" y="4977994"/>
            <a:ext cx="230429" cy="230429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8668512" y="4919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52" name="Text 43"/>
          <p:cNvSpPr txBox="1"/>
          <p:nvPr/>
        </p:nvSpPr>
        <p:spPr>
          <a:xfrm>
            <a:off x="8193024" y="5340096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spots and the swing zone become visible, not just a number on a screen.</a:t>
            </a:r>
            <a:endParaRPr lang="en-US" sz="1200" dirty="0"/>
          </a:p>
        </p:txBody>
      </p:sp>
      <p:sp>
        <p:nvSpPr>
          <p:cNvPr id="53" name="Text 44"/>
          <p:cNvSpPr txBox="1"/>
          <p:nvPr/>
        </p:nvSpPr>
        <p:spPr>
          <a:xfrm>
            <a:off x="548640" y="60533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000" dirty="0"/>
          </a:p>
        </p:txBody>
      </p:sp>
      <p:sp>
        <p:nvSpPr>
          <p:cNvPr id="54" name="Shape 45"/>
          <p:cNvSpPr/>
          <p:nvPr/>
        </p:nvSpPr>
        <p:spPr>
          <a:xfrm>
            <a:off x="1115568" y="6016752"/>
            <a:ext cx="1906524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1115568" y="6016752"/>
            <a:ext cx="19065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360 Python API</a:t>
            </a:r>
            <a:endParaRPr lang="en-US" sz="1100" dirty="0"/>
          </a:p>
        </p:txBody>
      </p:sp>
      <p:sp>
        <p:nvSpPr>
          <p:cNvPr id="56" name="Shape 47"/>
          <p:cNvSpPr/>
          <p:nvPr/>
        </p:nvSpPr>
        <p:spPr>
          <a:xfrm>
            <a:off x="3113532" y="6016752"/>
            <a:ext cx="507492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57" name="Text 48"/>
          <p:cNvSpPr txBox="1"/>
          <p:nvPr/>
        </p:nvSpPr>
        <p:spPr>
          <a:xfrm>
            <a:off x="3113532" y="6016752"/>
            <a:ext cx="5074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FBX</a:t>
            </a:r>
            <a:endParaRPr lang="en-US" sz="1100" dirty="0"/>
          </a:p>
        </p:txBody>
      </p:sp>
      <p:sp>
        <p:nvSpPr>
          <p:cNvPr id="58" name="Shape 49"/>
          <p:cNvSpPr/>
          <p:nvPr/>
        </p:nvSpPr>
        <p:spPr>
          <a:xfrm>
            <a:off x="3712464" y="6016752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3712464" y="601675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BEYOND THE BRIEF · DETAILS THAT MATTER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2F2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a real cab, a real site and real trust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Co-Pilot  ·  Smart Operator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170992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19656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44752" y="17099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report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2423160"/>
            <a:ext cx="3209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output shows “AI 84%”; click to see the method, the evidence and the limits. Capped at 95%: never claims certainty.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4288536" y="150876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89704" y="170992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819656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84648" y="17099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Hands-free, bilingual voice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489704" y="2423160"/>
            <a:ext cx="3209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“Next task”, “task done”, “report incident”: English and Hindi commands and alerts.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8028432" y="150876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229600" y="170992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819656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924544" y="17099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design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229600" y="2423160"/>
            <a:ext cx="3209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(1925) to Hi-Way Yellow (1931): the operator’s own growth uses the same journey.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548640" y="388620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49808" y="40873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197096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44752" y="40873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 &amp; glove mode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749808" y="4800600"/>
            <a:ext cx="3209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High-contrast theme for glare; 52 px touch targets for gloved hands.</a:t>
            </a:r>
            <a:endParaRPr lang="en-US" sz="1450" dirty="0"/>
          </a:p>
        </p:txBody>
      </p:sp>
      <p:sp>
        <p:nvSpPr>
          <p:cNvPr id="27" name="Shape 20"/>
          <p:cNvSpPr/>
          <p:nvPr/>
        </p:nvSpPr>
        <p:spPr>
          <a:xfrm>
            <a:off x="4288536" y="388620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489704" y="40873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197096"/>
            <a:ext cx="329184" cy="32918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184648" y="40873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on-device AI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4489704" y="4800600"/>
            <a:ext cx="3209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AI runs in the browser. No video leaves the machine; models work offline.</a:t>
            </a:r>
            <a:endParaRPr lang="en-US" sz="1450" dirty="0"/>
          </a:p>
        </p:txBody>
      </p:sp>
      <p:sp>
        <p:nvSpPr>
          <p:cNvPr id="32" name="Shape 24"/>
          <p:cNvSpPr/>
          <p:nvPr/>
        </p:nvSpPr>
        <p:spPr>
          <a:xfrm>
            <a:off x="8028432" y="388620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229600" y="40873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4197096"/>
            <a:ext cx="329184" cy="32918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924544" y="40873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safety score</a:t>
            </a:r>
            <a:endParaRPr lang="en-US" sz="1600" dirty="0"/>
          </a:p>
        </p:txBody>
      </p:sp>
      <p:sp>
        <p:nvSpPr>
          <p:cNvPr id="36" name="Text 27"/>
          <p:cNvSpPr txBox="1"/>
          <p:nvPr/>
        </p:nvSpPr>
        <p:spPr>
          <a:xfrm>
            <a:off x="8229600" y="4800600"/>
            <a:ext cx="3209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explained. Reporting incidents raises the score, so near-misses get reported.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2F2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Co-Pilot  ·  Smart Operator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159105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1693469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1463040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(operator app)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4572000" y="1682496"/>
            <a:ext cx="918058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0" y="1682496"/>
            <a:ext cx="91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599786" y="1682496"/>
            <a:ext cx="596189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599786" y="1682496"/>
            <a:ext cx="5961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05702" y="1682496"/>
            <a:ext cx="918058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305702" y="1682496"/>
            <a:ext cx="91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333488" y="1682496"/>
            <a:ext cx="918058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333488" y="1682496"/>
            <a:ext cx="91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361274" y="1682496"/>
            <a:ext cx="998525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361274" y="1682496"/>
            <a:ext cx="9985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48640" y="2359152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13232" y="248716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5" y="2589581"/>
            <a:ext cx="307238" cy="30723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417320" y="2359152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(in the browser)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4572000" y="2578608"/>
            <a:ext cx="2044598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572000" y="2578608"/>
            <a:ext cx="20445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TensorFlow.js COCO-SSD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726326" y="2578608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726326" y="2578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Landmarker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9122054" y="2578608"/>
            <a:ext cx="1400861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9122054" y="2578608"/>
            <a:ext cx="14008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548640" y="3255264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13232" y="338328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3485693"/>
            <a:ext cx="307238" cy="30723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417320" y="3255264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450" dirty="0"/>
          </a:p>
        </p:txBody>
      </p:sp>
      <p:sp>
        <p:nvSpPr>
          <p:cNvPr id="35" name="Shape 29"/>
          <p:cNvSpPr/>
          <p:nvPr/>
        </p:nvSpPr>
        <p:spPr>
          <a:xfrm>
            <a:off x="4572000" y="3474720"/>
            <a:ext cx="1159459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4572000" y="3474720"/>
            <a:ext cx="11594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5841187" y="3474720"/>
            <a:ext cx="837590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5841187" y="3474720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6788506" y="3474720"/>
            <a:ext cx="837590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6788506" y="3474720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7735824" y="3474720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7735824" y="3474720"/>
            <a:ext cx="757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8602675" y="3474720"/>
            <a:ext cx="1964131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8602675" y="3474720"/>
            <a:ext cx="19641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state + CSV data</a:t>
            </a:r>
            <a:endParaRPr lang="en-US" sz="1150" dirty="0"/>
          </a:p>
        </p:txBody>
      </p:sp>
      <p:sp>
        <p:nvSpPr>
          <p:cNvPr id="45" name="Shape 39"/>
          <p:cNvSpPr/>
          <p:nvPr/>
        </p:nvSpPr>
        <p:spPr>
          <a:xfrm>
            <a:off x="548640" y="4151376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713232" y="42793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5" y="4381805"/>
            <a:ext cx="307238" cy="307238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1417320" y="4151376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50" dirty="0"/>
          </a:p>
        </p:txBody>
      </p:sp>
      <p:sp>
        <p:nvSpPr>
          <p:cNvPr id="49" name="Shape 42"/>
          <p:cNvSpPr/>
          <p:nvPr/>
        </p:nvSpPr>
        <p:spPr>
          <a:xfrm>
            <a:off x="4572000" y="4370832"/>
            <a:ext cx="3171139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4572000" y="4370832"/>
            <a:ext cx="31711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 quantile regression</a:t>
            </a:r>
            <a:endParaRPr lang="en-US" sz="1150" dirty="0"/>
          </a:p>
        </p:txBody>
      </p:sp>
      <p:sp>
        <p:nvSpPr>
          <p:cNvPr id="51" name="Shape 44"/>
          <p:cNvSpPr/>
          <p:nvPr/>
        </p:nvSpPr>
        <p:spPr>
          <a:xfrm>
            <a:off x="7852867" y="4370832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7852867" y="437083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</a:t>
            </a:r>
            <a:endParaRPr lang="en-US" sz="1150" dirty="0"/>
          </a:p>
        </p:txBody>
      </p:sp>
      <p:sp>
        <p:nvSpPr>
          <p:cNvPr id="53" name="Shape 46"/>
          <p:cNvSpPr/>
          <p:nvPr/>
        </p:nvSpPr>
        <p:spPr>
          <a:xfrm>
            <a:off x="9443923" y="4370832"/>
            <a:ext cx="1642262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9443923" y="4370832"/>
            <a:ext cx="16422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retraining</a:t>
            </a:r>
            <a:endParaRPr lang="en-US" sz="1150" dirty="0"/>
          </a:p>
        </p:txBody>
      </p:sp>
      <p:sp>
        <p:nvSpPr>
          <p:cNvPr id="55" name="Shape 48"/>
          <p:cNvSpPr/>
          <p:nvPr/>
        </p:nvSpPr>
        <p:spPr>
          <a:xfrm>
            <a:off x="548640" y="5047488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713232" y="517550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2A2B2F"/>
          </a:solidFill>
          <a:ln w="9525">
            <a:solidFill>
              <a:srgbClr val="2A2B2F"/>
            </a:solidFill>
            <a:prstDash val="solid"/>
          </a:ln>
        </p:spPr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5" y="5277917"/>
            <a:ext cx="307238" cy="307238"/>
          </a:xfrm>
          <a:prstGeom prst="rect">
            <a:avLst/>
          </a:prstGeom>
        </p:spPr>
      </p:pic>
      <p:sp>
        <p:nvSpPr>
          <p:cNvPr id="58" name="Text 50"/>
          <p:cNvSpPr txBox="1"/>
          <p:nvPr/>
        </p:nvSpPr>
        <p:spPr>
          <a:xfrm>
            <a:off x="1417320" y="5047488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&amp; digital twin</a:t>
            </a:r>
            <a:endParaRPr lang="en-US" sz="1450" dirty="0"/>
          </a:p>
        </p:txBody>
      </p:sp>
      <p:sp>
        <p:nvSpPr>
          <p:cNvPr id="59" name="Shape 51"/>
          <p:cNvSpPr/>
          <p:nvPr/>
        </p:nvSpPr>
        <p:spPr>
          <a:xfrm>
            <a:off x="4572000" y="5266944"/>
            <a:ext cx="1964131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60" name="Text 52"/>
          <p:cNvSpPr txBox="1"/>
          <p:nvPr/>
        </p:nvSpPr>
        <p:spPr>
          <a:xfrm>
            <a:off x="4572000" y="5266944"/>
            <a:ext cx="19641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360 Python API</a:t>
            </a:r>
            <a:endParaRPr lang="en-US" sz="1150" dirty="0"/>
          </a:p>
        </p:txBody>
      </p:sp>
      <p:sp>
        <p:nvSpPr>
          <p:cNvPr id="61" name="Shape 53"/>
          <p:cNvSpPr/>
          <p:nvPr/>
        </p:nvSpPr>
        <p:spPr>
          <a:xfrm>
            <a:off x="6645859" y="5266944"/>
            <a:ext cx="1078992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62" name="Text 54"/>
          <p:cNvSpPr txBox="1"/>
          <p:nvPr/>
        </p:nvSpPr>
        <p:spPr>
          <a:xfrm>
            <a:off x="6645859" y="526694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FBX export</a:t>
            </a:r>
            <a:endParaRPr lang="en-US" sz="1150" dirty="0"/>
          </a:p>
        </p:txBody>
      </p:sp>
      <p:sp>
        <p:nvSpPr>
          <p:cNvPr id="63" name="Shape 55"/>
          <p:cNvSpPr/>
          <p:nvPr/>
        </p:nvSpPr>
        <p:spPr>
          <a:xfrm>
            <a:off x="7834579" y="5266944"/>
            <a:ext cx="1722730" cy="347472"/>
          </a:xfrm>
          <a:prstGeom prst="roundRect">
            <a:avLst>
              <a:gd name="adj" fmla="val 50000"/>
            </a:avLst>
          </a:prstGeom>
          <a:solidFill>
            <a:srgbClr val="2A2B2F"/>
          </a:solidFill>
          <a:ln w="9525">
            <a:solidFill>
              <a:srgbClr val="3A3C41"/>
            </a:solidFill>
            <a:prstDash val="solid"/>
          </a:ln>
        </p:spPr>
      </p:sp>
      <p:sp>
        <p:nvSpPr>
          <p:cNvPr id="64" name="Text 56"/>
          <p:cNvSpPr txBox="1"/>
          <p:nvPr/>
        </p:nvSpPr>
        <p:spPr>
          <a:xfrm>
            <a:off x="7834579" y="5266944"/>
            <a:ext cx="17227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FBXLoader</a:t>
            </a:r>
            <a:endParaRPr lang="en-US" sz="1150" dirty="0"/>
          </a:p>
        </p:txBody>
      </p:sp>
      <p:sp>
        <p:nvSpPr>
          <p:cNvPr id="65" name="Text 57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3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the 9 provided rows plus ~900 synthetic tasks and 14 days of telemetry, calibrated so the original rows fit the same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2F2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changes on site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Co-Pilot  ·  Smart Operator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830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CD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5×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432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task-time estimates (±1.9 vs ±9.9 min)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88536" y="150876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17136" y="17830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CD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→ 0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4517136" y="27432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scheduled into risky rain / wind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28432" y="150876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57032" y="17830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CD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s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8257032" y="27432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eyes-closed microsleep → alarm &amp; machine hold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3858768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413308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CD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₹5,270</a:t>
            </a:r>
            <a:endParaRPr lang="en-US" sz="44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09320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idle fuel found for one operator in 14 days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288536" y="3858768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17136" y="413308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CD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 → 82%</a:t>
            </a:r>
            <a:endParaRPr lang="en-US" sz="4400" dirty="0"/>
          </a:p>
        </p:txBody>
      </p:sp>
      <p:sp>
        <p:nvSpPr>
          <p:cNvPr id="21" name="Text 18"/>
          <p:cNvSpPr txBox="1"/>
          <p:nvPr/>
        </p:nvSpPr>
        <p:spPr>
          <a:xfrm>
            <a:off x="4517136" y="509320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 compliance, one week after coaching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028432" y="3858768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F2023"/>
          </a:solidFill>
          <a:ln w="9525">
            <a:solidFill>
              <a:srgbClr val="1F202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57032" y="413308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CD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s</a:t>
            </a:r>
            <a:endParaRPr lang="en-US" sz="4400" dirty="0"/>
          </a:p>
        </p:txBody>
      </p:sp>
      <p:sp>
        <p:nvSpPr>
          <p:cNvPr id="24" name="Text 21"/>
          <p:cNvSpPr txBox="1"/>
          <p:nvPr/>
        </p:nvSpPr>
        <p:spPr>
          <a:xfrm>
            <a:off x="8257032" y="509320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briefing instead of walking the site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Co-Pilot  ·  Smart Operator Assistant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A DAY WITH RAJU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00584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005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15568" y="100584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in → weather-smart schedule explains every move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157276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15568" y="1572768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task → seatbelt off → nudge, alarm, supervisor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1396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139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" y="2139696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walks into camera → STOP, radar, near-miss log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270662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706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115568" y="2706624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eyes 3 s → microsleep alarm, machine held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327355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115568" y="3273552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twin: machine digs, then freezes on the interlock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38404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115568" y="384048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handover → Priya hears the 30-s briefing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680960" y="1005840"/>
            <a:ext cx="3959352" cy="3246120"/>
          </a:xfrm>
          <a:prstGeom prst="roundRect">
            <a:avLst>
              <a:gd name="adj" fmla="val 3944"/>
            </a:avLst>
          </a:prstGeom>
          <a:solidFill>
            <a:srgbClr val="FFCD11"/>
          </a:solidFill>
          <a:ln w="9525">
            <a:solidFill>
              <a:srgbClr val="FFCD11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188720"/>
            <a:ext cx="1783080" cy="178308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680960" y="297180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7" name="Text 23"/>
          <p:cNvSpPr txBox="1"/>
          <p:nvPr/>
        </p:nvSpPr>
        <p:spPr>
          <a:xfrm>
            <a:off x="7680960" y="3566160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92040"/>
            <a:ext cx="11091672" cy="310896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48640" y="53949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Co-Pilot: the operator’s AI companion. Safer every shift, smarter every day.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 Co-Pilot: Smart Operator Assistant</dc:title>
  <dc:subject>PptxGenJS Presentation</dc:subject>
  <dc:creator>PptxGenJS</dc:creator>
  <cp:lastModifiedBy>PptxGenJS</cp:lastModifiedBy>
  <cp:revision>1</cp:revision>
  <dcterms:created xsi:type="dcterms:W3CDTF">2026-09-23T11:14:28Z</dcterms:created>
  <dcterms:modified xsi:type="dcterms:W3CDTF">2026-09-23T11:14:28Z</dcterms:modified>
</cp:coreProperties>
</file>