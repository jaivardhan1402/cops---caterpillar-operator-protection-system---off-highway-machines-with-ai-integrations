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21714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All Features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12800" y="2669514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97 features across 16 areas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3256227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built into COPS, grouped by area, with what each feature does.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5814087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[Team name] ·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97 features in 16 areas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806509"/>
            <a:ext cx="1670050" cy="789517"/>
          </a:xfrm>
          <a:prstGeom prst="roundRect">
            <a:avLst>
              <a:gd name="adj" fmla="val 1085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4033" y="1934567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4033" y="2277467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 &amp; shift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93975" y="1806509"/>
            <a:ext cx="1670050" cy="789517"/>
          </a:xfrm>
          <a:prstGeom prst="roundRect">
            <a:avLst>
              <a:gd name="adj" fmla="val 1085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2033" y="1934567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22033" y="2277467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Daily 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1975" y="1806509"/>
            <a:ext cx="1670050" cy="789517"/>
          </a:xfrm>
          <a:prstGeom prst="roundRect">
            <a:avLst>
              <a:gd name="adj" fmla="val 1085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0033" y="1934567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00033" y="2277467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predictions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49975" y="1806509"/>
            <a:ext cx="1670050" cy="789517"/>
          </a:xfrm>
          <a:prstGeom prst="roundRect">
            <a:avLst>
              <a:gd name="adj" fmla="val 1085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033" y="1934567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78033" y="2277467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 &amp; seatbelt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27975" y="1806509"/>
            <a:ext cx="1670050" cy="789517"/>
          </a:xfrm>
          <a:prstGeom prst="roundRect">
            <a:avLst>
              <a:gd name="adj" fmla="val 1085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56034" y="1934567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056034" y="2277467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safety score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05975" y="1806509"/>
            <a:ext cx="1670050" cy="789517"/>
          </a:xfrm>
          <a:prstGeom prst="roundRect">
            <a:avLst>
              <a:gd name="adj" fmla="val 1085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34034" y="1934567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834034" y="2277467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Proximity safety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975" y="2703976"/>
            <a:ext cx="1670050" cy="980017"/>
          </a:xfrm>
          <a:prstGeom prst="roundRect">
            <a:avLst>
              <a:gd name="adj" fmla="val 874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4033" y="2832034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44033" y="3174934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Fatigue detection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93975" y="2703976"/>
            <a:ext cx="1670050" cy="980017"/>
          </a:xfrm>
          <a:prstGeom prst="roundRect">
            <a:avLst>
              <a:gd name="adj" fmla="val 874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2033" y="2832034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722033" y="3174934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Emergency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71975" y="2703976"/>
            <a:ext cx="1670050" cy="980017"/>
          </a:xfrm>
          <a:prstGeom prst="roundRect">
            <a:avLst>
              <a:gd name="adj" fmla="val 874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0033" y="2832034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500033" y="3174934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49975" y="2703976"/>
            <a:ext cx="1670050" cy="980017"/>
          </a:xfrm>
          <a:prstGeom prst="roundRect">
            <a:avLst>
              <a:gd name="adj" fmla="val 874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8033" y="2832034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78033" y="3174934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health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27975" y="2703976"/>
            <a:ext cx="1670050" cy="980017"/>
          </a:xfrm>
          <a:prstGeom prst="roundRect">
            <a:avLst>
              <a:gd name="adj" fmla="val 874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56034" y="2832034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056034" y="3174934"/>
            <a:ext cx="146473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Insights &amp; performance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705975" y="2703976"/>
            <a:ext cx="1670050" cy="980017"/>
          </a:xfrm>
          <a:prstGeom prst="roundRect">
            <a:avLst>
              <a:gd name="adj" fmla="val 874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34034" y="2832034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834034" y="3174934"/>
            <a:ext cx="146473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 &amp; supervisor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5975" y="3791942"/>
            <a:ext cx="1670050" cy="789517"/>
          </a:xfrm>
          <a:prstGeom prst="roundRect">
            <a:avLst>
              <a:gd name="adj" fmla="val 1085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4033" y="3920001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944033" y="4262901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93975" y="3791942"/>
            <a:ext cx="1670050" cy="789517"/>
          </a:xfrm>
          <a:prstGeom prst="roundRect">
            <a:avLst>
              <a:gd name="adj" fmla="val 1085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22033" y="3920001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11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2722033" y="4262901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twin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371975" y="3791942"/>
            <a:ext cx="1670050" cy="789517"/>
          </a:xfrm>
          <a:prstGeom prst="roundRect">
            <a:avLst>
              <a:gd name="adj" fmla="val 1085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00033" y="3920001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4500033" y="4262901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Assistant &amp; voice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49975" y="3791942"/>
            <a:ext cx="1670050" cy="789517"/>
          </a:xfrm>
          <a:prstGeom prst="roundRect">
            <a:avLst>
              <a:gd name="adj" fmla="val 10858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78033" y="3920001"/>
            <a:ext cx="1464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6278033" y="4262901"/>
            <a:ext cx="14647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All features implemented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1–11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Login &amp; shift · Daily work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7441"/>
          <a:ext cx="10566400" cy="3991769"/>
        </p:xfrm>
        <a:graphic>
          <a:graphicData uri="http://schemas.openxmlformats.org/drawingml/2006/table">
            <a:tbl>
              <a:tblPr/>
              <a:tblGrid>
                <a:gridCol w="2324608"/>
                <a:gridCol w="3592576"/>
                <a:gridCol w="46492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Login &amp; shift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 Punch-in with operator ID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Keypad login, quick-pick demo operators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 Emergency shift handover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Reason, % done, typed or spoken note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 Spoken handover briefing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Done, half-done, remaining work, hazards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 Acknowledge before work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Tasks locked until the briefing is read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 Shift overrun warning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Warns when work runs past shift end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Daily work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 Task dashboard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Today's tasks with site, priority, status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7. Weather-smart scheduler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Tries 120 orders, avoids rain and wind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8. Hourly forecast strip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Condition and temperature per hour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9. Working-condition advice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Heat, rain and wind guidance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10. Pre-shift walkaround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Six checks required before the first task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11. Start / complete tasks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 time logged per task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All features implemented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12–18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AI predictions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7441"/>
          <a:ext cx="10566400" cy="2661179"/>
        </p:xfrm>
        <a:graphic>
          <a:graphicData uri="http://schemas.openxmlformats.org/drawingml/2006/table">
            <a:tbl>
              <a:tblPr/>
              <a:tblGrid>
                <a:gridCol w="2324608"/>
                <a:gridCol w="3592576"/>
                <a:gridCol w="46492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predictions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12. Task time prediction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About 5× more accurate than estimates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13. 80% prediction range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 honest low-high window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14. "Why?" chart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 + weather + skill + machine 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15. What-if planner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Change inputs, see the new time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16. "Who should do it?"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Same job, time by skill level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17. Self-learning model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Retrains after every completed task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18. AI confidence badges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Method, evidence and limits on every result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All features implemented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19–29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Engine &amp; seatbelt · Live safety score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7441"/>
          <a:ext cx="10566400" cy="3991769"/>
        </p:xfrm>
        <a:graphic>
          <a:graphicData uri="http://schemas.openxmlformats.org/drawingml/2006/table">
            <a:tbl>
              <a:tblPr/>
              <a:tblGrid>
                <a:gridCol w="2324608"/>
                <a:gridCol w="3592576"/>
                <a:gridCol w="46492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 &amp; seatbelt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19. Engine start / stop key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Diesel start sound, shortcut 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20. Engine start interlock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seatbelt, no engine start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21. Seatbelt-removed siren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Immediate, repeats every 2 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22. Escalation ladder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Final warning 8 s, supervisor at 16 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23. Task interlock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 needs the belt and the engine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Live safety score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24. Live score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Starts at 100 when the engine starts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25. Paused when engine off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Shows the last session instead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26. Per-second deductions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Belt, fatigue, proximity, idling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27. Recovery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+3 points per minute of clean work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28. Breakdown &amp; trend graph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Right now, this session, recovered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29. Grade-drop voice alerts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"Safety score dropped to 68"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All features implemented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30–40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Proximity safety · Fatigue detection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7441"/>
          <a:ext cx="10566400" cy="3991769"/>
        </p:xfrm>
        <a:graphic>
          <a:graphicData uri="http://schemas.openxmlformats.org/drawingml/2006/table">
            <a:tbl>
              <a:tblPr/>
              <a:tblGrid>
                <a:gridCol w="2324608"/>
                <a:gridCol w="3592576"/>
                <a:gridCol w="46492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Proximity safety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30. Live person detection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Webcam AI in the browser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31. Distance zones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 under 3 m, amber under 6 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32. Swing radar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Top-down view of the danger zone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33. Voice STOP + alarm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When a person enters the red zone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34. One-tap near-miss log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Pre-filled from the detection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35. Camera calibration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Slider per camera mount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Fatigue detection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36. Microsleep detection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Eyes closed 3 s: alarm, emergency stop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37. Drowsiness warning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Eyes closing for 1.5 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38. Yawn counting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yawns in 3 minutes: break advised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39. PERCLOS tracking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of time eyes closed, last minute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40. 10-minute break timer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Guided break with countdown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All features implemented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41–51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Emergency · Incidents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7441"/>
          <a:ext cx="10566400" cy="3991769"/>
        </p:xfrm>
        <a:graphic>
          <a:graphicData uri="http://schemas.openxmlformats.org/drawingml/2006/table">
            <a:tbl>
              <a:tblPr/>
              <a:tblGrid>
                <a:gridCol w="2324608"/>
                <a:gridCol w="3592576"/>
                <a:gridCol w="46492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Emergency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41. Two-level SOS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 risk or manageable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42. Guided fix + auto-escalation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Unsolved after 60 s becomes high risk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43. WhatsApp + SMS alerts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Machine, operator, location, action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44. Emergency machine stop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 shut down, supervisor alerted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45. Idle / fuel-waste alert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 on, no work: supervisor told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46. Black-box recorder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60 s of machine state, replayable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Incidents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47. Voice-to-report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Speak one sentence, the form fills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48. Auto-detected fields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Type, severity, location, persons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49. Immediate action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Recommended per incident 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50. Telemetry black box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Attached to every report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51. Incident log &amp; event feed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History of reports and alerts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All features implemented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52–57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Machine health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7441"/>
          <a:ext cx="10566400" cy="2328532"/>
        </p:xfrm>
        <a:graphic>
          <a:graphicData uri="http://schemas.openxmlformats.org/drawingml/2006/table">
            <a:tbl>
              <a:tblPr/>
              <a:tblGrid>
                <a:gridCol w="2324608"/>
                <a:gridCol w="3592576"/>
                <a:gridCol w="46492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Machine health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52. 10 live sensors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Oil, coolant, temps, fuel, battery…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53. Time-to-critical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Predicted from the recent trend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54. Leak detection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Level falling faster than normal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55. Demo fault injection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Leak, overheat, low fuel, filter…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56. Service / top-up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Clears faults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57. Start blocked on critical fault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Until the machine is serviced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All features implemented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58–67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Insights &amp; performance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7441"/>
          <a:ext cx="10566400" cy="3659121"/>
        </p:xfrm>
        <a:graphic>
          <a:graphicData uri="http://schemas.openxmlformats.org/drawingml/2006/table">
            <a:tbl>
              <a:tblPr/>
              <a:tblGrid>
                <a:gridCol w="2324608"/>
                <a:gridCol w="3592576"/>
                <a:gridCol w="46492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Insights &amp; performance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58. Idle cost in ₹ and CO₂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Fuel burned idling, 14 days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59. Explained anomalies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"60 min idle, 1 load cycle"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60. Pattern discovery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Seatbelt off ⇔ high idling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61. Fleet comparison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Your idle cost vs the fleet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62. 14-day trend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Plus today's live point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63. Week-over-week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Five metrics, better or worse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64. Personal goals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Progress bars, gray to yellow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65. Coach feedback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Wins, fixes, tips with Fix it links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66. You vs the AI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 vs predicted task times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67. 14-day profile score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Transparent points, every one explained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All features implemented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68–77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Reports &amp; supervisor · Training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7441"/>
          <a:ext cx="10566400" cy="3659121"/>
        </p:xfrm>
        <a:graphic>
          <a:graphicData uri="http://schemas.openxmlformats.org/drawingml/2006/table">
            <a:tbl>
              <a:tblPr/>
              <a:tblGrid>
                <a:gridCol w="2324608"/>
                <a:gridCol w="3592576"/>
                <a:gridCol w="46492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Reports &amp; supervisor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68. Shift Report tab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Engine, work, idle time, fuel, rating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69. Send report on WhatsApp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tap to the supervisor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70. Print / PDF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One-page shift summary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71. Supervisor Console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Live SOS acknowledge and resolve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72. Message outbox &amp; tests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Delivery status, test buttons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Training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73. Personalized micro-lessons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Picked from your own mistakes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74. Quizzes with XP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Pass to earn points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75. Skill levels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Beginner to Expert, gray to yellow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76. Swing-Zone Reflex game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Measures real reaction time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77. Instructor booking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Pick a slot with a trainer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All features implemented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78–88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Digital twin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7441"/>
          <a:ext cx="10566400" cy="3991769"/>
        </p:xfrm>
        <a:graphic>
          <a:graphicData uri="http://schemas.openxmlformats.org/drawingml/2006/table">
            <a:tbl>
              <a:tblPr/>
              <a:tblGrid>
                <a:gridCol w="2324608"/>
                <a:gridCol w="3592576"/>
                <a:gridCol w="46492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Digital twin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78. Fusion 360 excavator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Your CAD model, loaded live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79. Digs while working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Animated during a task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80. Freezes on interlocks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Belt, person nearby, drowsiness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81. Workers &amp; danger rings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Placed from the proximity camera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82. 3D walkaround hotspots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Synced with the checklist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83. Idle glow + fuel counter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 glows while idling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84. Cab flash on microsleep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Visible alert on the model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85. Paint by skill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Gray to CAT yellow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86. 3 camera views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Orbit, top, operator's cab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87. Load FBX / GLB / OBJ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Drag and drop, auto-load from folder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88. Fusion 360 build script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Nested parts, pivots on the pins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All features implemented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89–97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Assistant &amp; voice · Design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7441"/>
          <a:ext cx="10566400" cy="3326474"/>
        </p:xfrm>
        <a:graphic>
          <a:graphicData uri="http://schemas.openxmlformats.org/drawingml/2006/table">
            <a:tbl>
              <a:tblPr/>
              <a:tblGrid>
                <a:gridCol w="2324608"/>
                <a:gridCol w="3592576"/>
                <a:gridCol w="4649216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Assistant &amp; voice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89. Voice commands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Next task, task done, start engine…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90. Hindi voice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Commands and spoken alerts in Hindi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91. Ask COPS assistant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Claude when available, offline otherwise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92. Read-aloud alerts &amp; lessons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Spoken safety warnings and lessons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Design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93. Heritage theme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Caterpillar gray to Hi-Way Yellow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94. Sunlight mode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 contrast for outdoor glare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95. Glove-friendly buttons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Large touch targets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96. Tablet &amp; phone layout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sideways scrolling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97. Demo reset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Clean state before presenting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All features implemented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72518"/>
            <a:ext cx="10883392" cy="758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75"/>
              </a:lnSpc>
              <a:buNone/>
            </a:pPr>
            <a:r>
              <a:rPr lang="en-US" sz="55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All 97 features built and working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812800" y="2234543"/>
            <a:ext cx="10883392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8600" indent="-182880">
              <a:lnSpc>
                <a:spcPts val="2175"/>
              </a:lnSpc>
              <a:buSzPct val="100000"/>
              <a:buChar char="•"/>
            </a:pPr>
            <a:r>
              <a:rPr lang="en-US" sz="15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/ 16</a:t>
            </a:r>
            <a:r>
              <a:rPr lang="en-US" sz="15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automated backend checks pass (SOS, alerts, health, black box, reports, assistant)</a:t>
            </a:r>
            <a:endParaRPr lang="en-US" sz="1500" dirty="0"/>
          </a:p>
          <a:p>
            <a:pPr algn="l" marL="22860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 flows verified in the browser: engine, seatbelt, live score, proximity, fatigue, handover, digital twin</a:t>
            </a:r>
            <a:endParaRPr lang="en-US" sz="1500" dirty="0"/>
          </a:p>
          <a:p>
            <a:pPr algn="l" marL="22860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WhatsApp / SMS messages are generated and logged; live delivery needs a gateway key in backend/.env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COPS: All Features</dc:title>
  <dc:subject>PptxGenJS Presentation</dc:subject>
  <dc:creator>PptxGenJS</dc:creator>
  <cp:lastModifiedBy>PptxGenJS</cp:lastModifiedBy>
  <cp:revision>1</cp:revision>
  <dcterms:created xsi:type="dcterms:W3CDTF">2026-09-24T05:19:58Z</dcterms:created>
  <dcterms:modified xsi:type="dcterms:W3CDTF">2026-09-24T05:19:58Z</dcterms:modified>
</cp:coreProperties>
</file>