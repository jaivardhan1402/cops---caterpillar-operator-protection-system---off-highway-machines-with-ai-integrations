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 rotWithShape="1">
            <a:gsLst>
              <a:gs pos="0">
                <a:srgbClr val="5E6164"/>
              </a:gs>
              <a:gs pos="28000">
                <a:srgbClr val="7D8083"/>
              </a:gs>
              <a:gs pos="52000">
                <a:srgbClr val="A39A6C"/>
              </a:gs>
              <a:gs pos="78000">
                <a:srgbClr val="DCB424"/>
              </a:gs>
              <a:gs pos="100000">
                <a:srgbClr val="FFCD11"/>
              </a:gs>
            </a:gsLst>
            <a:lin ang="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50" kern="0" dirty="0">
                <a:solidFill>
                  <a:srgbClr val="FFCD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COPS · CATERPILLAR OPERATOR PROTECTION SYSTEM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12800" y="1221714"/>
            <a:ext cx="10883392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00"/>
              </a:lnSpc>
              <a:buNone/>
            </a:pPr>
            <a:r>
              <a:rPr lang="en-US" sz="10000" b="1" dirty="0">
                <a:solidFill>
                  <a:srgbClr val="FFCD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User Guide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812800" y="2669514"/>
            <a:ext cx="10883392" cy="43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dirty="0">
                <a:solidFill>
                  <a:srgbClr val="F2F1E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How to use every feature, step by step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12800" y="3256227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 operators, supervisors and demo presenters.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5814087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[Team name] · [Date]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 rotWithShape="1">
            <a:gsLst>
              <a:gs pos="0">
                <a:srgbClr val="5E6164"/>
              </a:gs>
              <a:gs pos="28000">
                <a:srgbClr val="7D8083"/>
              </a:gs>
              <a:gs pos="52000">
                <a:srgbClr val="A39A6C"/>
              </a:gs>
              <a:gs pos="78000">
                <a:srgbClr val="DCB424"/>
              </a:gs>
              <a:gs pos="100000">
                <a:srgbClr val="FFCD11"/>
              </a:gs>
            </a:gsLst>
            <a:lin ang="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6E5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GETTING STARTED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110232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B1C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Start COPS in one double-click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12800" y="1859228"/>
            <a:ext cx="133945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6E5B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22945" y="1859228"/>
            <a:ext cx="7390152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1C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Double-click </a:t>
            </a:r>
            <a:r>
              <a:rPr lang="en-US" sz="1400" b="1" dirty="0">
                <a:solidFill>
                  <a:srgbClr val="1B1C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start.bat</a:t>
            </a:r>
            <a:r>
              <a:rPr lang="en-US" sz="1400" dirty="0">
                <a:solidFill>
                  <a:srgbClr val="1B1C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in the CAT folder. Two windows open: </a:t>
            </a:r>
            <a:r>
              <a:rPr lang="en-US" sz="1400" b="1" dirty="0">
                <a:solidFill>
                  <a:srgbClr val="1B1C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COPS API</a:t>
            </a:r>
            <a:r>
              <a:rPr lang="en-US" sz="1400" dirty="0">
                <a:solidFill>
                  <a:srgbClr val="1B1C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and </a:t>
            </a:r>
            <a:r>
              <a:rPr lang="en-US" sz="1400" b="1" dirty="0">
                <a:solidFill>
                  <a:srgbClr val="1B1C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COPS Web</a:t>
            </a:r>
            <a:r>
              <a:rPr lang="en-US" sz="1400" dirty="0">
                <a:solidFill>
                  <a:srgbClr val="1B1C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Keep both open.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12800" y="2471341"/>
            <a:ext cx="161793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6E5B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50793" y="2471341"/>
            <a:ext cx="5579251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1C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</a:t>
            </a:r>
            <a:r>
              <a:rPr lang="en-US" sz="1400" b="1" dirty="0">
                <a:solidFill>
                  <a:srgbClr val="1B1C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http://localhost:5173</a:t>
            </a:r>
            <a:r>
              <a:rPr lang="en-US" sz="1400" dirty="0">
                <a:solidFill>
                  <a:srgbClr val="1B1C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in </a:t>
            </a:r>
            <a:r>
              <a:rPr lang="en-US" sz="1400" b="1" dirty="0">
                <a:solidFill>
                  <a:srgbClr val="1B1C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Chrome or Edge</a:t>
            </a:r>
            <a:r>
              <a:rPr lang="en-US" sz="1400" dirty="0">
                <a:solidFill>
                  <a:srgbClr val="1B1C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(voice needs them).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12800" y="2887861"/>
            <a:ext cx="161793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6E5B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50793" y="2887861"/>
            <a:ext cx="4871106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1C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Allow the </a:t>
            </a:r>
            <a:r>
              <a:rPr lang="en-US" sz="1400" b="1" dirty="0">
                <a:solidFill>
                  <a:srgbClr val="1B1C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camera and microphone</a:t>
            </a:r>
            <a:r>
              <a:rPr lang="en-US" sz="1400" dirty="0">
                <a:solidFill>
                  <a:srgbClr val="1B1C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when the browser asks.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2800" y="3304381"/>
            <a:ext cx="163976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6E5B0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4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52976" y="3304381"/>
            <a:ext cx="5077608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1C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Before a demo, click </a:t>
            </a:r>
            <a:r>
              <a:rPr lang="en-US" sz="1400" b="1" dirty="0">
                <a:solidFill>
                  <a:srgbClr val="1B1C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↺ Reset demo</a:t>
            </a:r>
            <a:r>
              <a:rPr lang="en-US" sz="1400" dirty="0">
                <a:solidFill>
                  <a:srgbClr val="1B1C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at the bottom of the page.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505825" y="1862403"/>
            <a:ext cx="2870200" cy="2404203"/>
          </a:xfrm>
          <a:prstGeom prst="roundRect">
            <a:avLst>
              <a:gd name="adj" fmla="val 4094"/>
            </a:avLst>
          </a:prstGeom>
          <a:solidFill>
            <a:srgbClr val="FBFAF6"/>
          </a:solidFill>
          <a:ln w="6350">
            <a:solidFill>
              <a:srgbClr val="DCD7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10084" y="2066661"/>
            <a:ext cx="2535534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1C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Good to know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710084" y="2386674"/>
            <a:ext cx="2535534" cy="1701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Keep </a:t>
            </a:r>
            <a:r>
              <a:rPr lang="en-US" sz="1300" b="1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COPS window per machine</a:t>
            </a:r>
            <a:r>
              <a:rPr lang="en-US" sz="13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windows share the engine state</a:t>
            </a:r>
            <a:endParaRPr lang="en-US" sz="1300" dirty="0"/>
          </a:p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Sounds play after your first click on the page</a:t>
            </a:r>
            <a:endParaRPr lang="en-US" sz="1300" dirty="0"/>
          </a:p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API documentation: localhost:8000/docs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COPS · User guide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 rotWithShape="1">
            <a:gsLst>
              <a:gs pos="0">
                <a:srgbClr val="5E6164"/>
              </a:gs>
              <a:gs pos="28000">
                <a:srgbClr val="7D8083"/>
              </a:gs>
              <a:gs pos="52000">
                <a:srgbClr val="A39A6C"/>
              </a:gs>
              <a:gs pos="78000">
                <a:srgbClr val="DCB424"/>
              </a:gs>
              <a:gs pos="100000">
                <a:srgbClr val="FFCD11"/>
              </a:gs>
            </a:gsLst>
            <a:lin ang="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FFCD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PUNCH IN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110232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F2F1E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Log in with your operator ID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12800" y="1859228"/>
            <a:ext cx="133945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FFCD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22945" y="1859228"/>
            <a:ext cx="5756798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2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Type </a:t>
            </a:r>
            <a:r>
              <a:rPr lang="en-US" sz="1400" b="1" dirty="0">
                <a:solidFill>
                  <a:srgbClr val="F2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 + 4 digits</a:t>
            </a:r>
            <a:r>
              <a:rPr lang="en-US" sz="1400" dirty="0">
                <a:solidFill>
                  <a:srgbClr val="F2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on the keypad and press ✓, or tap a demo operator.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12800" y="2275748"/>
            <a:ext cx="161793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FFCD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50793" y="2275748"/>
            <a:ext cx="604022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2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If a handover is waiting on the machine, the </a:t>
            </a:r>
            <a:r>
              <a:rPr lang="en-US" sz="1400" b="1" dirty="0">
                <a:solidFill>
                  <a:srgbClr val="F2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briefing opens</a:t>
            </a:r>
            <a:r>
              <a:rPr lang="en-US" sz="1400" dirty="0">
                <a:solidFill>
                  <a:srgbClr val="F2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automatically.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12800" y="2692268"/>
            <a:ext cx="161793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FFCD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50793" y="2692268"/>
            <a:ext cx="4793573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2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Supervisors click </a:t>
            </a:r>
            <a:r>
              <a:rPr lang="en-US" sz="1400" b="1" dirty="0">
                <a:solidFill>
                  <a:srgbClr val="F2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Supervisor Console</a:t>
            </a:r>
            <a:r>
              <a:rPr lang="en-US" sz="1400" dirty="0">
                <a:solidFill>
                  <a:srgbClr val="F2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on the same screen.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505825" y="1862403"/>
            <a:ext cx="2870200" cy="2925101"/>
          </a:xfrm>
          <a:prstGeom prst="roundRect">
            <a:avLst>
              <a:gd name="adj" fmla="val 3429"/>
            </a:avLst>
          </a:prstGeom>
          <a:solidFill>
            <a:srgbClr val="23252B"/>
          </a:solidFill>
          <a:ln w="6350">
            <a:solidFill>
              <a:srgbClr val="3437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10084" y="2066661"/>
            <a:ext cx="2535534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2F1E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Demo operators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710084" y="2386674"/>
          <a:ext cx="2461683" cy="2183871"/>
        </p:xfrm>
        <a:graphic>
          <a:graphicData uri="http://schemas.openxmlformats.org/drawingml/2006/table">
            <a:tbl>
              <a:tblPr/>
              <a:tblGrid>
                <a:gridCol w="689271"/>
                <a:gridCol w="640038"/>
                <a:gridCol w="1132374"/>
              </a:tblGrid>
              <a:tr h="545968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ID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5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Name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5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Level · machine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52B"/>
                    </a:solidFill>
                  </a:tcPr>
                </a:tc>
              </a:tr>
              <a:tr h="545968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OP1001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Raju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Intermediate · EXC001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5968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OP1002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Priya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Expert · EXC002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</a:tr>
              <a:tr h="545968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OP1003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Arjun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Beginner · LDR001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COPS · User guide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 rotWithShape="1">
            <a:gsLst>
              <a:gs pos="0">
                <a:srgbClr val="5E6164"/>
              </a:gs>
              <a:gs pos="28000">
                <a:srgbClr val="7D8083"/>
              </a:gs>
              <a:gs pos="52000">
                <a:srgbClr val="A39A6C"/>
              </a:gs>
              <a:gs pos="78000">
                <a:srgbClr val="DCB424"/>
              </a:gs>
              <a:gs pos="100000">
                <a:srgbClr val="FFCD11"/>
              </a:gs>
            </a:gsLst>
            <a:lin ang="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6E5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HEADER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110232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B1C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Every control, one line each</a:t>
            </a:r>
            <a:endParaRPr lang="en-US" sz="3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859228"/>
          <a:ext cx="10566400" cy="3593042"/>
        </p:xfrm>
        <a:graphic>
          <a:graphicData uri="http://schemas.openxmlformats.org/drawingml/2006/table">
            <a:tbl>
              <a:tblPr/>
              <a:tblGrid>
                <a:gridCol w="2324608"/>
                <a:gridCol w="6339840"/>
                <a:gridCol w="1901952"/>
              </a:tblGrid>
              <a:tr h="35930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Control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What it does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Shortcut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7"/>
                    </a:solidFill>
                  </a:tcPr>
                </a:tc>
              </a:tr>
              <a:tr h="35930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🔑 Engine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Start or stop the engine (needs the seatbelt)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0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🪢 Belt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Seatbelt sensor (simulated for the demo)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</a:tr>
              <a:tr h="35930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Safety score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Live score while the engine runs; click for the breakdown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-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0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🆘 SOS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Emergency: high risk or manageable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-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</a:tr>
              <a:tr h="35930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⇄ Handover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End the shift or hand over in an emergency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"end shift"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0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EN / हिं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Voice language: English or Hindi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-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</a:tr>
              <a:tr h="35930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☀️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Sunlight mode: high contrast for outdoors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-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0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🎙️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Voice command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-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</a:tr>
              <a:tr h="35930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💬 ASK COPS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Chat with the AI assistant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-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COPS · User guide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 rotWithShape="1">
            <a:gsLst>
              <a:gs pos="0">
                <a:srgbClr val="5E6164"/>
              </a:gs>
              <a:gs pos="28000">
                <a:srgbClr val="7D8083"/>
              </a:gs>
              <a:gs pos="52000">
                <a:srgbClr val="A39A6C"/>
              </a:gs>
              <a:gs pos="78000">
                <a:srgbClr val="DCB424"/>
              </a:gs>
              <a:gs pos="100000">
                <a:srgbClr val="FFCD11"/>
              </a:gs>
            </a:gsLst>
            <a:lin ang="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FFCD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TODAY TAB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110232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F2F1E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Plan and run the day's work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12800" y="1859229"/>
            <a:ext cx="133945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FFCD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22945" y="1859229"/>
            <a:ext cx="5772468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2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Tick all </a:t>
            </a:r>
            <a:r>
              <a:rPr lang="en-US" sz="1400" b="1" dirty="0">
                <a:solidFill>
                  <a:srgbClr val="F2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 walkaround items</a:t>
            </a:r>
            <a:r>
              <a:rPr lang="en-US" sz="1400" dirty="0">
                <a:solidFill>
                  <a:srgbClr val="F2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Tasks stay 🔒 locked until they are done.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12800" y="2275749"/>
            <a:ext cx="161793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FFCD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50793" y="2275749"/>
            <a:ext cx="607040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2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 the </a:t>
            </a:r>
            <a:r>
              <a:rPr lang="en-US" sz="1400" b="1" dirty="0">
                <a:solidFill>
                  <a:srgbClr val="F2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smart schedule</a:t>
            </a:r>
            <a:r>
              <a:rPr lang="en-US" sz="1400" dirty="0">
                <a:solidFill>
                  <a:srgbClr val="F2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🔀 explains why a task was moved (rain, wind).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12800" y="2692270"/>
            <a:ext cx="161793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FFCD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50793" y="2692270"/>
            <a:ext cx="4536518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2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Click </a:t>
            </a:r>
            <a:r>
              <a:rPr lang="en-US" sz="1400" b="1" dirty="0">
                <a:solidFill>
                  <a:srgbClr val="F2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Why?</a:t>
            </a:r>
            <a:r>
              <a:rPr lang="en-US" sz="1400" dirty="0">
                <a:solidFill>
                  <a:srgbClr val="F2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on a task to see how its time was predicted.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2800" y="3108790"/>
            <a:ext cx="163976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FFCD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4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52976" y="3108790"/>
            <a:ext cx="486402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2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Press </a:t>
            </a:r>
            <a:r>
              <a:rPr lang="en-US" sz="1400" b="1" dirty="0">
                <a:solidFill>
                  <a:srgbClr val="F2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▶ Start</a:t>
            </a:r>
            <a:r>
              <a:rPr lang="en-US" sz="1400" dirty="0">
                <a:solidFill>
                  <a:srgbClr val="F2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It also starts the engine, if the seatbelt is on.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2800" y="3525310"/>
            <a:ext cx="160734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FFCD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5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49734" y="3525310"/>
            <a:ext cx="5980811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2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Press </a:t>
            </a:r>
            <a:r>
              <a:rPr lang="en-US" sz="1400" b="1" dirty="0">
                <a:solidFill>
                  <a:srgbClr val="F2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 Complete</a:t>
            </a:r>
            <a:r>
              <a:rPr lang="en-US" sz="1400" dirty="0">
                <a:solidFill>
                  <a:srgbClr val="F2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enter the actual minutes. The model </a:t>
            </a:r>
            <a:r>
              <a:rPr lang="en-US" sz="1400" b="1" dirty="0">
                <a:solidFill>
                  <a:srgbClr val="F2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retrains</a:t>
            </a:r>
            <a:r>
              <a:rPr lang="en-US" sz="1400" dirty="0">
                <a:solidFill>
                  <a:srgbClr val="F2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at once.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COPS · User guide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 rotWithShape="1">
            <a:gsLst>
              <a:gs pos="0">
                <a:srgbClr val="5E6164"/>
              </a:gs>
              <a:gs pos="28000">
                <a:srgbClr val="7D8083"/>
              </a:gs>
              <a:gs pos="52000">
                <a:srgbClr val="A39A6C"/>
              </a:gs>
              <a:gs pos="78000">
                <a:srgbClr val="DCB424"/>
              </a:gs>
              <a:gs pos="100000">
                <a:srgbClr val="FFCD11"/>
              </a:gs>
            </a:gsLst>
            <a:lin ang="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6E5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ENGINE &amp; SEATBELT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110232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B1C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No seatbelt, no engine</a:t>
            </a:r>
            <a:endParaRPr lang="en-US" sz="3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859229"/>
          <a:ext cx="10566400" cy="2981325"/>
        </p:xfrm>
        <a:graphic>
          <a:graphicData uri="http://schemas.openxmlformats.org/drawingml/2006/table">
            <a:tbl>
              <a:tblPr/>
              <a:tblGrid>
                <a:gridCol w="4437888"/>
                <a:gridCol w="6128512"/>
              </a:tblGrid>
              <a:tr h="3726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You do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COPS does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7"/>
                    </a:solidFill>
                  </a:tcPr>
                </a:tc>
              </a:tr>
              <a:tr h="3726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Press E with the belt off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Start blocked: siren, red banner, attempt logged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6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Fasten the belt (B), press E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Engine starts with a diesel rumble: ⚙️ Engine ON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</a:tr>
              <a:tr h="3726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Remove the belt while running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Siren at once, repeating every 2 s, voice warning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6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Keep it off 8 s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Final warning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</a:tr>
              <a:tr h="3726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Keep it off 16 s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Supervisor notified and logged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6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Fasten the belt again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Siren stops: "Seatbelt fastened. Thank you."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</a:tr>
              <a:tr h="3726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Press E during a task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Refused: complete or hand over first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COPS · User guide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 rotWithShape="1">
            <a:gsLst>
              <a:gs pos="0">
                <a:srgbClr val="5E6164"/>
              </a:gs>
              <a:gs pos="28000">
                <a:srgbClr val="7D8083"/>
              </a:gs>
              <a:gs pos="52000">
                <a:srgbClr val="A39A6C"/>
              </a:gs>
              <a:gs pos="78000">
                <a:srgbClr val="DCB424"/>
              </a:gs>
              <a:gs pos="100000">
                <a:srgbClr val="FFCD11"/>
              </a:gs>
            </a:gsLst>
            <a:lin ang="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FFCD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LIVE SAFETY SCORE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110232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F2F1E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 score that follows the work, second by second</a:t>
            </a:r>
            <a:endParaRPr lang="en-US" sz="3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859229"/>
          <a:ext cx="7423150" cy="3233738"/>
        </p:xfrm>
        <a:graphic>
          <a:graphicData uri="http://schemas.openxmlformats.org/drawingml/2006/table">
            <a:tbl>
              <a:tblPr/>
              <a:tblGrid>
                <a:gridCol w="3860038"/>
                <a:gridCol w="3563112"/>
              </a:tblGrid>
              <a:tr h="35930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Condition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5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Effect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52B"/>
                    </a:solidFill>
                  </a:tcPr>
                </a:tc>
              </a:tr>
              <a:tr h="35930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Engine off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Scoring paused, last session shown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0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Engine starts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New session at 100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</a:tr>
              <a:tr h="35930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Seatbelt off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−2 per second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0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Microsleep / drowsy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−3 / −1 per second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</a:tr>
              <a:tr h="35930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Person in zone / approaching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−1.5 / −0.3 per second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0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Yawning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−0.15 per second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</a:tr>
              <a:tr h="35930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Idling, no work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−3 per minute (max −15)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0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Clean, safe work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+3 per minute recovery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493125" y="1862404"/>
            <a:ext cx="2882900" cy="3240088"/>
          </a:xfrm>
          <a:prstGeom prst="roundRect">
            <a:avLst>
              <a:gd name="adj" fmla="val 3414"/>
            </a:avLst>
          </a:prstGeom>
          <a:solidFill>
            <a:srgbClr val="23252B"/>
          </a:solidFill>
          <a:ln w="6350">
            <a:solidFill>
              <a:srgbClr val="34373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97384" y="2066661"/>
            <a:ext cx="2548615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2F1E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Read it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97384" y="2386676"/>
            <a:ext cx="2548615" cy="19404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b="1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Click the score</a:t>
            </a:r>
            <a:r>
              <a:rPr lang="en-US" sz="13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for the trend graph</a:t>
            </a:r>
            <a:endParaRPr lang="en-US" sz="1300" dirty="0"/>
          </a:p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b="1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Right now</a:t>
            </a:r>
            <a:r>
              <a:rPr lang="en-US" sz="13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what costs points this second</a:t>
            </a:r>
            <a:endParaRPr lang="en-US" sz="1300" dirty="0"/>
          </a:p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b="1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This session</a:t>
            </a:r>
            <a:r>
              <a:rPr lang="en-US" sz="13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every deduction and recovery</a:t>
            </a:r>
            <a:endParaRPr lang="en-US" sz="1300" dirty="0"/>
          </a:p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voice alert when the grade drops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COPS · User guide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 rotWithShape="1">
            <a:gsLst>
              <a:gs pos="0">
                <a:srgbClr val="5E6164"/>
              </a:gs>
              <a:gs pos="28000">
                <a:srgbClr val="7D8083"/>
              </a:gs>
              <a:gs pos="52000">
                <a:srgbClr val="A39A6C"/>
              </a:gs>
              <a:gs pos="78000">
                <a:srgbClr val="DCB424"/>
              </a:gs>
              <a:gs pos="100000">
                <a:srgbClr val="FFCD11"/>
              </a:gs>
            </a:gsLst>
            <a:lin ang="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6E5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SAFETY TAB: CAMERAS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110232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B1C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Two AI cameras watch out for you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5975" y="1862404"/>
            <a:ext cx="5149850" cy="1925439"/>
          </a:xfrm>
          <a:prstGeom prst="roundRect">
            <a:avLst>
              <a:gd name="adj" fmla="val 5112"/>
            </a:avLst>
          </a:prstGeom>
          <a:solidFill>
            <a:srgbClr val="FBFAF6"/>
          </a:solidFill>
          <a:ln w="6350">
            <a:solidFill>
              <a:srgbClr val="DCD7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0233" y="2066661"/>
            <a:ext cx="4883573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1C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Proximity camera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20233" y="2386676"/>
            <a:ext cx="4883573" cy="122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b="1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▶ Start camera</a:t>
            </a:r>
            <a:r>
              <a:rPr lang="en-US" sz="13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or </a:t>
            </a:r>
            <a:r>
              <a:rPr lang="en-US" sz="1300" b="1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🚶 Simulate worker</a:t>
            </a:r>
            <a:endParaRPr lang="en-US" sz="1300" dirty="0"/>
          </a:p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Red zone under 3 m, amber under 6 m</a:t>
            </a:r>
            <a:endParaRPr lang="en-US" sz="1300" dirty="0"/>
          </a:p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Voice </a:t>
            </a:r>
            <a:r>
              <a:rPr lang="en-US" sz="1300" b="1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STOP</a:t>
            </a:r>
            <a:r>
              <a:rPr lang="en-US" sz="13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alarm, radar view</a:t>
            </a:r>
            <a:endParaRPr lang="en-US" sz="1300" dirty="0"/>
          </a:p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 the </a:t>
            </a:r>
            <a:r>
              <a:rPr lang="en-US" sz="1300" b="1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calibration slider</a:t>
            </a:r>
            <a:r>
              <a:rPr lang="en-US" sz="13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per camera</a:t>
            </a:r>
            <a:endParaRPr lang="en-US" sz="1300" dirty="0"/>
          </a:p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b="1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📝 Log as near-miss</a:t>
            </a:r>
            <a:r>
              <a:rPr lang="en-US" sz="13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after a danger alert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26175" y="1862404"/>
            <a:ext cx="5149850" cy="1925439"/>
          </a:xfrm>
          <a:prstGeom prst="roundRect">
            <a:avLst>
              <a:gd name="adj" fmla="val 5112"/>
            </a:avLst>
          </a:prstGeom>
          <a:solidFill>
            <a:srgbClr val="FBFAF6"/>
          </a:solidFill>
          <a:ln w="6350">
            <a:solidFill>
              <a:srgbClr val="DCD7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30433" y="2066661"/>
            <a:ext cx="4883573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1C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Fatigue camera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30433" y="2386676"/>
            <a:ext cx="4883573" cy="122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b="1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▶ Start cab camera</a:t>
            </a:r>
            <a:r>
              <a:rPr lang="en-US" sz="13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or simulate microsleep / yawning</a:t>
            </a:r>
            <a:endParaRPr lang="en-US" sz="1300" dirty="0"/>
          </a:p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Eyes closed </a:t>
            </a:r>
            <a:r>
              <a:rPr lang="en-US" sz="1300" b="1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1.5 s</a:t>
            </a:r>
            <a:r>
              <a:rPr lang="en-US" sz="13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drowsy warning</a:t>
            </a:r>
            <a:endParaRPr lang="en-US" sz="1300" dirty="0"/>
          </a:p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Eyes closed </a:t>
            </a:r>
            <a:r>
              <a:rPr lang="en-US" sz="1300" b="1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s</a:t>
            </a:r>
            <a:r>
              <a:rPr lang="en-US" sz="13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microsleep alarm + emergency stop</a:t>
            </a:r>
            <a:endParaRPr lang="en-US" sz="1300" dirty="0"/>
          </a:p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b="1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yawns in 3 min</a:t>
            </a:r>
            <a:r>
              <a:rPr lang="en-US" sz="13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break advised</a:t>
            </a:r>
            <a:endParaRPr lang="en-US" sz="1300" dirty="0"/>
          </a:p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b="1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☕ Start 10-min break</a:t>
            </a:r>
            <a:r>
              <a:rPr lang="en-US" sz="13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button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COPS · User guide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 rotWithShape="1">
            <a:gsLst>
              <a:gs pos="0">
                <a:srgbClr val="5E6164"/>
              </a:gs>
              <a:gs pos="28000">
                <a:srgbClr val="7D8083"/>
              </a:gs>
              <a:gs pos="52000">
                <a:srgbClr val="A39A6C"/>
              </a:gs>
              <a:gs pos="78000">
                <a:srgbClr val="DCB424"/>
              </a:gs>
              <a:gs pos="100000">
                <a:srgbClr val="FFCD11"/>
              </a:gs>
            </a:gsLst>
            <a:lin ang="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FFCD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SAFETY TAB: INCIDENTS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110232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F2F1E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Report an incident by speaking one sentence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12800" y="1859229"/>
            <a:ext cx="133945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FFCD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22945" y="1859229"/>
            <a:ext cx="7204974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2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Tap </a:t>
            </a:r>
            <a:r>
              <a:rPr lang="en-US" sz="1400" b="1" dirty="0">
                <a:solidFill>
                  <a:srgbClr val="F2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🎙️</a:t>
            </a:r>
            <a:r>
              <a:rPr lang="en-US" sz="1400" dirty="0">
                <a:solidFill>
                  <a:srgbClr val="F2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and speak, or type: *"A rock hit the windshield near trench 3, nobody was hurt"*.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12800" y="2275749"/>
            <a:ext cx="161793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FFCD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50793" y="2275749"/>
            <a:ext cx="554757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2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COPS fills in the </a:t>
            </a:r>
            <a:r>
              <a:rPr lang="en-US" sz="1400" b="1" dirty="0">
                <a:solidFill>
                  <a:srgbClr val="F2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type, severity, location</a:t>
            </a:r>
            <a:r>
              <a:rPr lang="en-US" sz="1400" dirty="0">
                <a:solidFill>
                  <a:srgbClr val="F2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and the </a:t>
            </a:r>
            <a:r>
              <a:rPr lang="en-US" sz="1400" b="1" dirty="0">
                <a:solidFill>
                  <a:srgbClr val="F2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immediate action</a:t>
            </a:r>
            <a:r>
              <a:rPr lang="en-US" sz="1400" dirty="0">
                <a:solidFill>
                  <a:srgbClr val="F2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12800" y="2692270"/>
            <a:ext cx="161793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FFCD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50793" y="2692270"/>
            <a:ext cx="5507169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2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Check the fields, then </a:t>
            </a:r>
            <a:r>
              <a:rPr lang="en-US" sz="1400" b="1" dirty="0">
                <a:solidFill>
                  <a:srgbClr val="F2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Submit</a:t>
            </a:r>
            <a:r>
              <a:rPr lang="en-US" sz="1400" dirty="0">
                <a:solidFill>
                  <a:srgbClr val="F2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High severity notifies the supervisor.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2800" y="3108790"/>
            <a:ext cx="163976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FFCD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4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52976" y="3108790"/>
            <a:ext cx="6566049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2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report appears in the </a:t>
            </a:r>
            <a:r>
              <a:rPr lang="en-US" sz="1400" b="1" dirty="0">
                <a:solidFill>
                  <a:srgbClr val="F2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Incident log</a:t>
            </a:r>
            <a:r>
              <a:rPr lang="en-US" sz="1400" dirty="0">
                <a:solidFill>
                  <a:srgbClr val="F2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with the machine's </a:t>
            </a:r>
            <a:r>
              <a:rPr lang="en-US" sz="1400" b="1" dirty="0">
                <a:solidFill>
                  <a:srgbClr val="F2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black-box telemetry</a:t>
            </a:r>
            <a:r>
              <a:rPr lang="en-US" sz="1400" dirty="0">
                <a:solidFill>
                  <a:srgbClr val="F2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2800" y="3525310"/>
            <a:ext cx="160734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FFCD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5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49734" y="3525310"/>
            <a:ext cx="4499523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2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Reporting </a:t>
            </a:r>
            <a:r>
              <a:rPr lang="en-US" sz="1400" b="1" dirty="0">
                <a:solidFill>
                  <a:srgbClr val="F2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raises</a:t>
            </a:r>
            <a:r>
              <a:rPr lang="en-US" sz="1400" dirty="0">
                <a:solidFill>
                  <a:srgbClr val="F2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your safety score: we reward honesty.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COPS · User guide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 rotWithShape="1">
            <a:gsLst>
              <a:gs pos="0">
                <a:srgbClr val="5E6164"/>
              </a:gs>
              <a:gs pos="28000">
                <a:srgbClr val="7D8083"/>
              </a:gs>
              <a:gs pos="52000">
                <a:srgbClr val="A39A6C"/>
              </a:gs>
              <a:gs pos="78000">
                <a:srgbClr val="DCB424"/>
              </a:gs>
              <a:gs pos="100000">
                <a:srgbClr val="FFCD11"/>
              </a:gs>
            </a:gsLst>
            <a:lin ang="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6E5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110232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B1C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Pick the kind of emergency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5975" y="1862404"/>
            <a:ext cx="5149850" cy="2164821"/>
          </a:xfrm>
          <a:prstGeom prst="roundRect">
            <a:avLst>
              <a:gd name="adj" fmla="val 4547"/>
            </a:avLst>
          </a:prstGeom>
          <a:solidFill>
            <a:srgbClr val="FBFAF6"/>
          </a:solidFill>
          <a:ln w="6350">
            <a:solidFill>
              <a:srgbClr val="DCD7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0233" y="2066665"/>
            <a:ext cx="4883573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1C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🚨 High risk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20233" y="2386676"/>
            <a:ext cx="4883573" cy="1461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Injury / medical</a:t>
            </a:r>
            <a:endParaRPr lang="en-US" sz="1300" dirty="0"/>
          </a:p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Rollover / machine unstable</a:t>
            </a:r>
            <a:endParaRPr lang="en-US" sz="1300" dirty="0"/>
          </a:p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Fire / smoke</a:t>
            </a:r>
            <a:endParaRPr lang="en-US" sz="1300" dirty="0"/>
          </a:p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Person hit or trapped</a:t>
            </a:r>
            <a:endParaRPr lang="en-US" sz="1300" dirty="0"/>
          </a:p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Utility strike (gas / power)</a:t>
            </a:r>
            <a:endParaRPr lang="en-US" sz="1300" dirty="0"/>
          </a:p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</a:t>
            </a:r>
            <a:r>
              <a:rPr lang="en-US" sz="1300" b="1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WhatsApp + SMS</a:t>
            </a:r>
            <a:r>
              <a:rPr lang="en-US" sz="13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+ </a:t>
            </a:r>
            <a:r>
              <a:rPr lang="en-US" sz="1300" b="1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emergency stop</a:t>
            </a:r>
            <a:r>
              <a:rPr lang="en-US" sz="13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at once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26175" y="1862404"/>
            <a:ext cx="5149850" cy="2164821"/>
          </a:xfrm>
          <a:prstGeom prst="roundRect">
            <a:avLst>
              <a:gd name="adj" fmla="val 4547"/>
            </a:avLst>
          </a:prstGeom>
          <a:solidFill>
            <a:srgbClr val="FBFAF6"/>
          </a:solidFill>
          <a:ln w="6350">
            <a:solidFill>
              <a:srgbClr val="DCD7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30433" y="2066665"/>
            <a:ext cx="4883573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1C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🛠️ Manageable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30433" y="2386676"/>
            <a:ext cx="4883573" cy="122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Machine breakdown</a:t>
            </a:r>
            <a:endParaRPr lang="en-US" sz="1300" dirty="0"/>
          </a:p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Stuck in mud / soft ground</a:t>
            </a:r>
            <a:endParaRPr lang="en-US" sz="1300" dirty="0"/>
          </a:p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Warning light / minor fault</a:t>
            </a:r>
            <a:endParaRPr lang="en-US" sz="1300" dirty="0"/>
          </a:p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Fuel / fluid top-up, blocked path</a:t>
            </a:r>
            <a:endParaRPr lang="en-US" sz="1300" dirty="0"/>
          </a:p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</a:t>
            </a:r>
            <a:r>
              <a:rPr lang="en-US" sz="1300" b="1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Guided fix</a:t>
            </a:r>
            <a:r>
              <a:rPr lang="en-US" sz="13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; escalates after </a:t>
            </a:r>
            <a:r>
              <a:rPr lang="en-US" sz="1300" b="1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60 s</a:t>
            </a:r>
            <a:r>
              <a:rPr lang="en-US" sz="13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if unsolved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12800" y="4284402"/>
            <a:ext cx="10883392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Real WhatsApp delivery needs a gateway key in backend/.env (CALLMEBOT_API_KEY). Without it messages are </a:t>
            </a:r>
            <a:r>
              <a:rPr lang="en-US" sz="1300" b="1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simulated</a:t>
            </a:r>
            <a:r>
              <a:rPr lang="en-US" sz="13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and shown in the Supervisor Console.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COPS · User guide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 rotWithShape="1">
            <a:gsLst>
              <a:gs pos="0">
                <a:srgbClr val="5E6164"/>
              </a:gs>
              <a:gs pos="28000">
                <a:srgbClr val="7D8083"/>
              </a:gs>
              <a:gs pos="52000">
                <a:srgbClr val="A39A6C"/>
              </a:gs>
              <a:gs pos="78000">
                <a:srgbClr val="DCB424"/>
              </a:gs>
              <a:gs pos="100000">
                <a:srgbClr val="FFCD11"/>
              </a:gs>
            </a:gsLst>
            <a:lin ang="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FFCD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MACHINE HEALTH TAB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110232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F2F1E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Know about a problem before it stops you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5975" y="1862404"/>
            <a:ext cx="5149850" cy="1925439"/>
          </a:xfrm>
          <a:prstGeom prst="roundRect">
            <a:avLst>
              <a:gd name="adj" fmla="val 5112"/>
            </a:avLst>
          </a:prstGeom>
          <a:solidFill>
            <a:srgbClr val="23252B"/>
          </a:solidFill>
          <a:ln w="6350">
            <a:solidFill>
              <a:srgbClr val="3437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0233" y="2066665"/>
            <a:ext cx="4883573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2F1E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What you see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20233" y="2386676"/>
            <a:ext cx="4883573" cy="122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b="1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 live sensors</a:t>
            </a:r>
            <a:r>
              <a:rPr lang="en-US" sz="13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oil, coolant, temperatures, pressure, fuel, AdBlue, battery, air filter</a:t>
            </a:r>
            <a:endParaRPr lang="en-US" sz="1300" dirty="0"/>
          </a:p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Status </a:t>
            </a:r>
            <a:r>
              <a:rPr lang="en-US" sz="1300" b="1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OK / warning / critical</a:t>
            </a:r>
            <a:r>
              <a:rPr lang="en-US" sz="13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with the action to take</a:t>
            </a:r>
            <a:endParaRPr lang="en-US" sz="1300" dirty="0"/>
          </a:p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b="1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Time to critical</a:t>
            </a:r>
            <a:r>
              <a:rPr lang="en-US" sz="13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from the recent trend</a:t>
            </a:r>
            <a:endParaRPr lang="en-US" sz="1300" dirty="0"/>
          </a:p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b="1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Leak detection</a:t>
            </a:r>
            <a:r>
              <a:rPr lang="en-US" sz="13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level falling faster than normal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26175" y="1862404"/>
            <a:ext cx="5149850" cy="1925439"/>
          </a:xfrm>
          <a:prstGeom prst="roundRect">
            <a:avLst>
              <a:gd name="adj" fmla="val 5112"/>
            </a:avLst>
          </a:prstGeom>
          <a:solidFill>
            <a:srgbClr val="23252B"/>
          </a:solidFill>
          <a:ln w="6350">
            <a:solidFill>
              <a:srgbClr val="3437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30433" y="2066665"/>
            <a:ext cx="4883573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2F1E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What you can do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30433" y="2386676"/>
            <a:ext cx="4883573" cy="743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Inject </a:t>
            </a:r>
            <a:r>
              <a:rPr lang="en-US" sz="1300" b="1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demo faults</a:t>
            </a:r>
            <a:r>
              <a:rPr lang="en-US" sz="13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(leak, overheat, low fuel…)</a:t>
            </a:r>
            <a:endParaRPr lang="en-US" sz="1300" dirty="0"/>
          </a:p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b="1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Service / top-up</a:t>
            </a:r>
            <a:r>
              <a:rPr lang="en-US" sz="13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to clear them</a:t>
            </a:r>
            <a:endParaRPr lang="en-US" sz="1300" dirty="0"/>
          </a:p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critical fault </a:t>
            </a:r>
            <a:r>
              <a:rPr lang="en-US" sz="1300" b="1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blocks engine start</a:t>
            </a:r>
            <a:r>
              <a:rPr lang="en-US" sz="13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until serviced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COPS · User guide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 rotWithShape="1">
            <a:gsLst>
              <a:gs pos="0">
                <a:srgbClr val="5E6164"/>
              </a:gs>
              <a:gs pos="28000">
                <a:srgbClr val="7D8083"/>
              </a:gs>
              <a:gs pos="52000">
                <a:srgbClr val="A39A6C"/>
              </a:gs>
              <a:gs pos="78000">
                <a:srgbClr val="DCB424"/>
              </a:gs>
              <a:gs pos="100000">
                <a:srgbClr val="FFCD11"/>
              </a:gs>
            </a:gsLst>
            <a:lin ang="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6E5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DIGITAL TWIN TAB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110232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B1C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Your machine in 3D, live</a:t>
            </a:r>
            <a:endParaRPr lang="en-US" sz="3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859229"/>
          <a:ext cx="10566400" cy="2515129"/>
        </p:xfrm>
        <a:graphic>
          <a:graphicData uri="http://schemas.openxmlformats.org/drawingml/2006/table">
            <a:tbl>
              <a:tblPr/>
              <a:tblGrid>
                <a:gridCol w="4649216"/>
                <a:gridCol w="5917184"/>
              </a:tblGrid>
              <a:tr h="35930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Control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What it does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7"/>
                    </a:solidFill>
                  </a:tcPr>
                </a:tc>
              </a:tr>
              <a:tr h="35930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🔄 Orbit · 🗺️ Top · 🪟 Operator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Change the camera view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0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Numbered hotspots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Tick walkaround items directly on the 3D machine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</a:tr>
              <a:tr h="35930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🚶 Simulate worker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 worker walks into the danger ring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0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📂 Load .fbx / .glb / .obj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Load a model, or drag a file onto the view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</a:tr>
              <a:tr h="35930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↻ Model is Z-up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Fix a model that lies on its side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0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frontend/public/models/excavator.fbx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This file loads automatically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12800" y="4641056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digs during a task, freezes on any interlock, glows when idling and turns yellow as your skill grows.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COPS · User guide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 rotWithShape="1">
            <a:gsLst>
              <a:gs pos="0">
                <a:srgbClr val="5E6164"/>
              </a:gs>
              <a:gs pos="28000">
                <a:srgbClr val="7D8083"/>
              </a:gs>
              <a:gs pos="52000">
                <a:srgbClr val="A39A6C"/>
              </a:gs>
              <a:gs pos="78000">
                <a:srgbClr val="DCB424"/>
              </a:gs>
              <a:gs pos="100000">
                <a:srgbClr val="FFCD11"/>
              </a:gs>
            </a:gsLst>
            <a:lin ang="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FFCD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SHIFT HANDOVER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110232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F2F1E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Leave safely, take over informed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5975" y="1862404"/>
            <a:ext cx="5149850" cy="2696832"/>
          </a:xfrm>
          <a:prstGeom prst="roundRect">
            <a:avLst>
              <a:gd name="adj" fmla="val 3650"/>
            </a:avLst>
          </a:prstGeom>
          <a:solidFill>
            <a:srgbClr val="23252B"/>
          </a:solidFill>
          <a:ln w="6350">
            <a:solidFill>
              <a:srgbClr val="3437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0233" y="2066665"/>
            <a:ext cx="4883573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2F1E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Outgoing operator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20233" y="2386676"/>
            <a:ext cx="133945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FFCD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230379" y="2386676"/>
            <a:ext cx="1380199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2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Click </a:t>
            </a:r>
            <a:r>
              <a:rPr lang="en-US" sz="1300" b="1" dirty="0">
                <a:solidFill>
                  <a:srgbClr val="F2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⇄ Handover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20233" y="2803196"/>
            <a:ext cx="161793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FFCD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258226" y="2803196"/>
            <a:ext cx="1450777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2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Choose the </a:t>
            </a:r>
            <a:r>
              <a:rPr lang="en-US" sz="1300" b="1" dirty="0">
                <a:solidFill>
                  <a:srgbClr val="F2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reason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20233" y="3219717"/>
            <a:ext cx="161793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FFCD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258226" y="3219717"/>
            <a:ext cx="2374679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2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 </a:t>
            </a:r>
            <a:r>
              <a:rPr lang="en-US" sz="1300" b="1" dirty="0">
                <a:solidFill>
                  <a:srgbClr val="F2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% done</a:t>
            </a:r>
            <a:r>
              <a:rPr lang="en-US" sz="1300" dirty="0">
                <a:solidFill>
                  <a:srgbClr val="F2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on the current task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20233" y="3636237"/>
            <a:ext cx="163976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FFCD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4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260409" y="3636237"/>
            <a:ext cx="1783581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2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Add a note (type or 🎙️)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20233" y="4052757"/>
            <a:ext cx="160734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FFCD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5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257168" y="4052757"/>
            <a:ext cx="181451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2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Hand over &amp; punch out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26175" y="1862404"/>
            <a:ext cx="5149850" cy="2696832"/>
          </a:xfrm>
          <a:prstGeom prst="roundRect">
            <a:avLst>
              <a:gd name="adj" fmla="val 3650"/>
            </a:avLst>
          </a:prstGeom>
          <a:solidFill>
            <a:srgbClr val="23252B"/>
          </a:solidFill>
          <a:ln w="6350">
            <a:solidFill>
              <a:srgbClr val="3437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30433" y="2066665"/>
            <a:ext cx="4883573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2F1E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Incoming operator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30433" y="2386676"/>
            <a:ext cx="133945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FFCD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640579" y="2386676"/>
            <a:ext cx="1909417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2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Punch in</a:t>
            </a:r>
            <a:r>
              <a:rPr lang="en-US" sz="1300" dirty="0">
                <a:solidFill>
                  <a:srgbClr val="F2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on the machine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30433" y="2803196"/>
            <a:ext cx="161793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FFCD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668426" y="2803196"/>
            <a:ext cx="221975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2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Listen to the </a:t>
            </a:r>
            <a:r>
              <a:rPr lang="en-US" sz="1300" b="1" dirty="0">
                <a:solidFill>
                  <a:srgbClr val="F2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spoken briefing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30433" y="3219717"/>
            <a:ext cx="161793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FFCD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668426" y="3219717"/>
            <a:ext cx="2218388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2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Tick </a:t>
            </a:r>
            <a:r>
              <a:rPr lang="en-US" sz="1300" b="1" dirty="0">
                <a:solidFill>
                  <a:srgbClr val="F2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 have read the briefing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30433" y="3636237"/>
            <a:ext cx="163976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FFCD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4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670609" y="3636237"/>
            <a:ext cx="202299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2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Acknowledge &amp; take over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30433" y="4052757"/>
            <a:ext cx="160734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FFCD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5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667368" y="4052757"/>
            <a:ext cx="312561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2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✕ closes it for later, but tasks stay locked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COPS · User guide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 rotWithShape="1">
            <a:gsLst>
              <a:gs pos="0">
                <a:srgbClr val="5E6164"/>
              </a:gs>
              <a:gs pos="28000">
                <a:srgbClr val="7D8083"/>
              </a:gs>
              <a:gs pos="52000">
                <a:srgbClr val="A39A6C"/>
              </a:gs>
              <a:gs pos="78000">
                <a:srgbClr val="DCB424"/>
              </a:gs>
              <a:gs pos="100000">
                <a:srgbClr val="FFCD11"/>
              </a:gs>
            </a:gsLst>
            <a:lin ang="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6E5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REPORTS &amp; PERFORMANCE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110232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B1C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See how the shift and the weeks went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5975" y="1862404"/>
            <a:ext cx="5149850" cy="1925439"/>
          </a:xfrm>
          <a:prstGeom prst="roundRect">
            <a:avLst>
              <a:gd name="adj" fmla="val 5112"/>
            </a:avLst>
          </a:prstGeom>
          <a:solidFill>
            <a:srgbClr val="FBFAF6"/>
          </a:solidFill>
          <a:ln w="6350">
            <a:solidFill>
              <a:srgbClr val="DCD7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0233" y="2066665"/>
            <a:ext cx="4883573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1C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📄 Shift Report tab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20233" y="2386676"/>
            <a:ext cx="4883573" cy="122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Engine, working and idle time</a:t>
            </a:r>
            <a:endParaRPr lang="en-US" sz="1300" dirty="0"/>
          </a:p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Fuel used and wasted, rating out of 100</a:t>
            </a:r>
            <a:endParaRPr lang="en-US" sz="1300" dirty="0"/>
          </a:p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 and a timeline</a:t>
            </a:r>
            <a:endParaRPr lang="en-US" sz="1300" dirty="0"/>
          </a:p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b="1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🟢 Send to supervisor</a:t>
            </a:r>
            <a:r>
              <a:rPr lang="en-US" sz="13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(WhatsApp)</a:t>
            </a:r>
            <a:endParaRPr lang="en-US" sz="1300" dirty="0"/>
          </a:p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b="1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🖨️ Print / PDF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26175" y="1862404"/>
            <a:ext cx="5149850" cy="1925439"/>
          </a:xfrm>
          <a:prstGeom prst="roundRect">
            <a:avLst>
              <a:gd name="adj" fmla="val 5112"/>
            </a:avLst>
          </a:prstGeom>
          <a:solidFill>
            <a:srgbClr val="FBFAF6"/>
          </a:solidFill>
          <a:ln w="6350">
            <a:solidFill>
              <a:srgbClr val="DCD7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30433" y="2066665"/>
            <a:ext cx="4883573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1C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🔁 Performance tab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30433" y="2386676"/>
            <a:ext cx="4883573" cy="122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14-day trend with today's live point</a:t>
            </a:r>
            <a:endParaRPr lang="en-US" sz="1300" dirty="0"/>
          </a:p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Week-over-week comparison</a:t>
            </a:r>
            <a:endParaRPr lang="en-US" sz="1300" dirty="0"/>
          </a:p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Weekly goals with progress bars</a:t>
            </a:r>
            <a:endParaRPr lang="en-US" sz="1300" dirty="0"/>
          </a:p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Coach tips with </a:t>
            </a:r>
            <a:r>
              <a:rPr lang="en-US" sz="1300" b="1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Fix it</a:t>
            </a:r>
            <a:r>
              <a:rPr lang="en-US" sz="13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links to lessons</a:t>
            </a:r>
            <a:endParaRPr lang="en-US" sz="1300" dirty="0"/>
          </a:p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 vs the AI's predicted times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COPS · User guide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 rotWithShape="1">
            <a:gsLst>
              <a:gs pos="0">
                <a:srgbClr val="5E6164"/>
              </a:gs>
              <a:gs pos="28000">
                <a:srgbClr val="7D8083"/>
              </a:gs>
              <a:gs pos="52000">
                <a:srgbClr val="A39A6C"/>
              </a:gs>
              <a:gs pos="78000">
                <a:srgbClr val="DCB424"/>
              </a:gs>
              <a:gs pos="100000">
                <a:srgbClr val="FFCD11"/>
              </a:gs>
            </a:gsLst>
            <a:lin ang="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FFCD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INSIGHTS, TRAINING, PREDICTOR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110232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F2F1E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Learn from the data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5975" y="1862404"/>
            <a:ext cx="3397250" cy="1686057"/>
          </a:xfrm>
          <a:prstGeom prst="roundRect">
            <a:avLst>
              <a:gd name="adj" fmla="val 5838"/>
            </a:avLst>
          </a:prstGeom>
          <a:solidFill>
            <a:srgbClr val="23252B"/>
          </a:solidFill>
          <a:ln w="6350">
            <a:solidFill>
              <a:srgbClr val="3437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0233" y="2066665"/>
            <a:ext cx="3078395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2F1E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📊 Machine Insights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20233" y="2386676"/>
            <a:ext cx="3078395" cy="743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Idle cost in ₹ and CO₂</a:t>
            </a:r>
            <a:endParaRPr lang="en-US" sz="1300" dirty="0"/>
          </a:p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Explained anomalies</a:t>
            </a:r>
            <a:endParaRPr lang="en-US" sz="1300" dirty="0"/>
          </a:p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Idling vs work chart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97375" y="1862404"/>
            <a:ext cx="3397250" cy="1686057"/>
          </a:xfrm>
          <a:prstGeom prst="roundRect">
            <a:avLst>
              <a:gd name="adj" fmla="val 5838"/>
            </a:avLst>
          </a:prstGeom>
          <a:solidFill>
            <a:srgbClr val="23252B"/>
          </a:solidFill>
          <a:ln w="6350">
            <a:solidFill>
              <a:srgbClr val="3437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01633" y="2066665"/>
            <a:ext cx="3078395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2F1E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🎓 Training Hub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01633" y="2386676"/>
            <a:ext cx="3078395" cy="98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Lessons picked from your data</a:t>
            </a:r>
            <a:endParaRPr lang="en-US" sz="1300" dirty="0"/>
          </a:p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Quiz → XP → level up</a:t>
            </a:r>
            <a:endParaRPr lang="en-US" sz="1300" dirty="0"/>
          </a:p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Swing-Zone Reflex game</a:t>
            </a:r>
            <a:endParaRPr lang="en-US" sz="1300" dirty="0"/>
          </a:p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Book an instructor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78775" y="1862404"/>
            <a:ext cx="3397250" cy="1686057"/>
          </a:xfrm>
          <a:prstGeom prst="roundRect">
            <a:avLst>
              <a:gd name="adj" fmla="val 5838"/>
            </a:avLst>
          </a:prstGeom>
          <a:solidFill>
            <a:srgbClr val="23252B"/>
          </a:solidFill>
          <a:ln w="6350">
            <a:solidFill>
              <a:srgbClr val="3437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83034" y="2066665"/>
            <a:ext cx="3078395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2F1E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⏱️ Time Predictor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83034" y="2386676"/>
            <a:ext cx="3078395" cy="98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What-if sliders</a:t>
            </a:r>
            <a:endParaRPr lang="en-US" sz="1300" dirty="0"/>
          </a:p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Why? breakdown</a:t>
            </a:r>
            <a:endParaRPr lang="en-US" sz="1300" dirty="0"/>
          </a:p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Time by skill level</a:t>
            </a:r>
            <a:endParaRPr lang="en-US" sz="1300" dirty="0"/>
          </a:p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 accuracy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COPS · User guide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 rotWithShape="1">
            <a:gsLst>
              <a:gs pos="0">
                <a:srgbClr val="5E6164"/>
              </a:gs>
              <a:gs pos="28000">
                <a:srgbClr val="7D8083"/>
              </a:gs>
              <a:gs pos="52000">
                <a:srgbClr val="A39A6C"/>
              </a:gs>
              <a:gs pos="78000">
                <a:srgbClr val="DCB424"/>
              </a:gs>
              <a:gs pos="100000">
                <a:srgbClr val="FFCD11"/>
              </a:gs>
            </a:gsLst>
            <a:lin ang="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6E5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VOICE &amp; ASK COPS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110232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B1C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Hands on the joysticks, eyes on the job</a:t>
            </a:r>
            <a:endParaRPr lang="en-US" sz="3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859235"/>
          <a:ext cx="7423150" cy="2874433"/>
        </p:xfrm>
        <a:graphic>
          <a:graphicData uri="http://schemas.openxmlformats.org/drawingml/2006/table">
            <a:tbl>
              <a:tblPr/>
              <a:tblGrid>
                <a:gridCol w="3711575"/>
                <a:gridCol w="3711575"/>
              </a:tblGrid>
              <a:tr h="35930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Say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COPS does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7"/>
                    </a:solidFill>
                  </a:tcPr>
                </a:tc>
              </a:tr>
              <a:tr h="35930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"next task" · "अगला काम"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Starts the next task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0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"task done" · "काम खत्म"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Opens the complete dialog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</a:tr>
              <a:tr h="35930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"what's next"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Reads out the next task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0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"start engine" · "stop engine"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Engine on or off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</a:tr>
              <a:tr h="35930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"report incident: …"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Fills an incident report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0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"end shift"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Opens the handover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</a:tr>
              <a:tr h="35930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"safety score"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Reads the live score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493125" y="1862410"/>
            <a:ext cx="2882900" cy="2880783"/>
          </a:xfrm>
          <a:prstGeom prst="roundRect">
            <a:avLst>
              <a:gd name="adj" fmla="val 3417"/>
            </a:avLst>
          </a:prstGeom>
          <a:solidFill>
            <a:srgbClr val="FBFAF6"/>
          </a:solidFill>
          <a:ln w="6350">
            <a:solidFill>
              <a:srgbClr val="DCD7C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97384" y="2066665"/>
            <a:ext cx="2548615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1C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💬 Ask COPS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97384" y="2386682"/>
            <a:ext cx="2548615" cy="1461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"Is my machine healthy?"</a:t>
            </a:r>
            <a:endParaRPr lang="en-US" sz="1300" dirty="0"/>
          </a:p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"Why is my safety score low?"</a:t>
            </a:r>
            <a:endParaRPr lang="en-US" sz="1300" dirty="0"/>
          </a:p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"How long will trenching take?"</a:t>
            </a:r>
            <a:endParaRPr lang="en-US" sz="1300" dirty="0"/>
          </a:p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Works </a:t>
            </a:r>
            <a:r>
              <a:rPr lang="en-US" sz="1300" b="1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offline</a:t>
            </a:r>
            <a:r>
              <a:rPr lang="en-US" sz="13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; uses Claude when a key is set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COPS · User guide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 rotWithShape="1">
            <a:gsLst>
              <a:gs pos="0">
                <a:srgbClr val="5E6164"/>
              </a:gs>
              <a:gs pos="28000">
                <a:srgbClr val="7D8083"/>
              </a:gs>
              <a:gs pos="52000">
                <a:srgbClr val="A39A6C"/>
              </a:gs>
              <a:gs pos="78000">
                <a:srgbClr val="DCB424"/>
              </a:gs>
              <a:gs pos="100000">
                <a:srgbClr val="FFCD11"/>
              </a:gs>
            </a:gsLst>
            <a:lin ang="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FFCD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SUPERVISOR CONSOLE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110232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F2F1E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Every machine and every alert in one place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5975" y="1862410"/>
            <a:ext cx="5149850" cy="1686057"/>
          </a:xfrm>
          <a:prstGeom prst="roundRect">
            <a:avLst>
              <a:gd name="adj" fmla="val 5838"/>
            </a:avLst>
          </a:prstGeom>
          <a:solidFill>
            <a:srgbClr val="23252B"/>
          </a:solidFill>
          <a:ln w="6350">
            <a:solidFill>
              <a:srgbClr val="3437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0233" y="2066665"/>
            <a:ext cx="4883573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2F1E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Emergencies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20233" y="2386682"/>
            <a:ext cx="4883573" cy="98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Active SOS with location and map link</a:t>
            </a:r>
            <a:endParaRPr lang="en-US" sz="1300" dirty="0"/>
          </a:p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b="1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✋ Acknowledge</a:t>
            </a:r>
            <a:r>
              <a:rPr lang="en-US" sz="13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help on the way</a:t>
            </a:r>
            <a:endParaRPr lang="en-US" sz="1300" dirty="0"/>
          </a:p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b="1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 Resolve</a:t>
            </a:r>
            <a:r>
              <a:rPr lang="en-US" sz="13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operator safe</a:t>
            </a:r>
            <a:endParaRPr lang="en-US" sz="1300" dirty="0"/>
          </a:p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🔇 Enable the alert sound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26175" y="1862410"/>
            <a:ext cx="5149850" cy="1686057"/>
          </a:xfrm>
          <a:prstGeom prst="roundRect">
            <a:avLst>
              <a:gd name="adj" fmla="val 5838"/>
            </a:avLst>
          </a:prstGeom>
          <a:solidFill>
            <a:srgbClr val="23252B"/>
          </a:solidFill>
          <a:ln w="6350">
            <a:solidFill>
              <a:srgbClr val="3437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30433" y="2066665"/>
            <a:ext cx="4883573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2F1E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Fleet &amp; messages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30433" y="2386682"/>
            <a:ext cx="4883573" cy="98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Machines, operators, events</a:t>
            </a:r>
            <a:endParaRPr lang="en-US" sz="1300" dirty="0"/>
          </a:p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WhatsApp / SMS status and outbox</a:t>
            </a:r>
            <a:endParaRPr lang="en-US" sz="1300" dirty="0"/>
          </a:p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Recipient number, </a:t>
            </a:r>
            <a:r>
              <a:rPr lang="en-US" sz="1300" b="1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 SMS / WhatsApp</a:t>
            </a:r>
            <a:endParaRPr lang="en-US" sz="1300" dirty="0"/>
          </a:p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b="1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▶ Replay</a:t>
            </a:r>
            <a:r>
              <a:rPr lang="en-US" sz="13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black-box recordings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COPS · User guide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 rotWithShape="1">
            <a:gsLst>
              <a:gs pos="0">
                <a:srgbClr val="5E6164"/>
              </a:gs>
              <a:gs pos="28000">
                <a:srgbClr val="7D8083"/>
              </a:gs>
              <a:gs pos="52000">
                <a:srgbClr val="A39A6C"/>
              </a:gs>
              <a:gs pos="78000">
                <a:srgbClr val="DCB424"/>
              </a:gs>
              <a:gs pos="100000">
                <a:srgbClr val="FFCD11"/>
              </a:gs>
            </a:gsLst>
            <a:lin ang="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6E5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TROUBLESHOOTING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110232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B1C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If something doesn't work</a:t>
            </a:r>
            <a:endParaRPr lang="en-US" sz="3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859235"/>
          <a:ext cx="10566400" cy="2981325"/>
        </p:xfrm>
        <a:graphic>
          <a:graphicData uri="http://schemas.openxmlformats.org/drawingml/2006/table">
            <a:tbl>
              <a:tblPr/>
              <a:tblGrid>
                <a:gridCol w="4226560"/>
                <a:gridCol w="6339840"/>
              </a:tblGrid>
              <a:tr h="3726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Problem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Fix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7"/>
                    </a:solidFill>
                  </a:tcPr>
                </a:tc>
              </a:tr>
              <a:tr h="3726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"Backend not reachable"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Start start.bat; keep the COPS API window open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6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Page stuck on loading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Wait 20 s for the API, then press F5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</a:tr>
              <a:tr h="3726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sound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Click once on the page; check the volume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6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Mic or camera does nothing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Use Chrome or Edge; allow the permission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</a:tr>
              <a:tr h="3726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Engine switches off by itself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Close other COPS windows for the same machine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6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WhatsApp not arriving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Add CALLMEBOT_API_KEY to backend/.env, restart the API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</a:tr>
              <a:tr h="3726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Demo data looks messy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Click ↺ Reset demo at the bottom of the page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COPS · User guide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COPS: User Guide</dc:title>
  <dc:subject>PptxGenJS Presentation</dc:subject>
  <dc:creator>PptxGenJS</dc:creator>
  <cp:lastModifiedBy>PptxGenJS</cp:lastModifiedBy>
  <cp:revision>1</cp:revision>
  <dcterms:created xsi:type="dcterms:W3CDTF">2026-09-24T05:17:53Z</dcterms:created>
  <dcterms:modified xsi:type="dcterms:W3CDTF">2026-09-24T05:17:53Z</dcterms:modified>
</cp:coreProperties>
</file>